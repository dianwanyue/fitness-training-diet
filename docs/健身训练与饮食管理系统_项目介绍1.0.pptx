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66" r:id="rId6"/>
    <p:sldId id="275" r:id="rId7"/>
    <p:sldId id="277" r:id="rId8"/>
    <p:sldId id="292" r:id="rId9"/>
    <p:sldId id="279" r:id="rId10"/>
    <p:sldId id="290" r:id="rId11"/>
    <p:sldId id="289" r:id="rId12"/>
    <p:sldId id="298" r:id="rId13"/>
    <p:sldId id="299" r:id="rId14"/>
    <p:sldId id="300" r:id="rId15"/>
    <p:sldId id="297" r:id="rId16"/>
    <p:sldId id="283" r:id="rId17"/>
    <p:sldId id="301" r:id="rId18"/>
    <p:sldId id="302" r:id="rId19"/>
    <p:sldId id="303" r:id="rId20"/>
    <p:sldId id="291" r:id="rId21"/>
    <p:sldId id="295" r:id="rId22"/>
    <p:sldId id="304" r:id="rId23"/>
  </p:sldIdLst>
  <p:sldSz cx="12192000" cy="6858000"/>
  <p:notesSz cx="6858000" cy="9144000"/>
  <p:embeddedFontLst>
    <p:embeddedFont>
      <p:font typeface="黑体" panose="02010609060101010101" charset="-122"/>
      <p:regular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632"/>
    <a:srgbClr val="0A84FF"/>
    <a:srgbClr val="25C2D9"/>
    <a:srgbClr val="252D35"/>
    <a:srgbClr val="30394C"/>
    <a:srgbClr val="6C81B1"/>
    <a:srgbClr val="57678B"/>
    <a:srgbClr val="6CB5FF"/>
    <a:srgbClr val="302F31"/>
    <a:srgbClr val="379C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30"/>
    <p:restoredTop sz="94658"/>
  </p:normalViewPr>
  <p:slideViewPr>
    <p:cSldViewPr snapToGrid="0" showGuides="1">
      <p:cViewPr varScale="1">
        <p:scale>
          <a:sx n="89" d="100"/>
          <a:sy n="89" d="100"/>
        </p:scale>
        <p:origin x="168" y="8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312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lvl="1" algn="ctr">
              <a:lnSpc>
                <a:spcPct val="100000"/>
              </a:lnSpc>
              <a:defRPr lang="zh-CN" sz="1860" b="0" i="0" u="none" strike="noStrike" kern="1200" baseline="0">
                <a:solidFill>
                  <a:srgbClr val="30394C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defRPr>
            </a:pPr>
            <a:r>
              <a:rPr lang="zh-CN" sz="1200" b="0" i="0" strike="noStrike" dirty="0">
                <a:solidFill>
                  <a:srgbClr val="30394C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各阶段投入周数</a:t>
            </a:r>
            <a:endParaRPr lang="zh-CN" sz="1200" b="0" i="0" strike="noStrike" dirty="0">
              <a:solidFill>
                <a:srgbClr val="30394C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投入周数</c:f>
              <c:strCache>
                <c:ptCount val="1"/>
                <c:pt idx="0">
                  <c:v>计划投入周数</c:v>
                </c:pt>
              </c:strCache>
            </c:strRef>
          </c:tx>
          <c:spPr>
            <a:solidFill>
              <a:srgbClr val="0A84FF"/>
            </a:solidFill>
            <a:ln>
              <a:noFill/>
            </a:ln>
          </c:spPr>
          <c:invertIfNegative val="1"/>
          <c:dLbls>
            <c:dLbl>
              <c:idx val="0"/>
              <c:layout>
                <c:manualLayout>
                  <c:x val="0.0727351"/>
                  <c:y val="0.00681503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195" b="1" i="0" u="none" strike="noStrike" kern="1200" baseline="0">
                      <a:solidFill>
                        <a:schemeClr val="bg1"/>
                      </a:solidFill>
                      <a:latin typeface="PingFang SC"/>
                      <a:ea typeface="PingFang SC"/>
                      <a:cs typeface="+mn-cs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926323"/>
                  <c:y val="0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195" b="1" i="0" u="none" strike="noStrike" kern="1200" baseline="0">
                      <a:solidFill>
                        <a:schemeClr val="bg1"/>
                      </a:solidFill>
                      <a:latin typeface="Arial" panose="020B0604020202020204"/>
                      <a:ea typeface="宋体" panose="02010600030101010101" pitchFamily="2" charset="-122"/>
                      <a:cs typeface="+mn-cs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760778"/>
                  <c:y val="0.00350596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195" b="1" i="0" u="none" strike="noStrike" kern="1200" baseline="0">
                      <a:solidFill>
                        <a:schemeClr val="bg1"/>
                      </a:solidFill>
                      <a:latin typeface="Arial" panose="020B0604020202020204"/>
                      <a:ea typeface="宋体" panose="02010600030101010101" pitchFamily="2" charset="-122"/>
                      <a:cs typeface="+mn-cs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806846"/>
                  <c:y val="-0.00330907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195" b="1" i="0" u="none" strike="noStrike" kern="1200" baseline="0">
                      <a:solidFill>
                        <a:schemeClr val="bg1"/>
                      </a:solidFill>
                      <a:latin typeface="PingFang SC"/>
                      <a:ea typeface="PingFang SC"/>
                      <a:cs typeface="+mn-cs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.0792404"/>
                  <c:y val="0.00350596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195" b="1" i="0" u="none" strike="noStrike" kern="1200" baseline="0">
                      <a:solidFill>
                        <a:schemeClr val="bg1"/>
                      </a:solidFill>
                      <a:latin typeface="Arial" panose="020B0604020202020204"/>
                      <a:ea typeface="宋体" panose="02010600030101010101" pitchFamily="2" charset="-122"/>
                      <a:cs typeface="+mn-cs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bg1"/>
                    </a:solidFill>
                    <a:latin typeface="Arial" panose="020B0604020202020204"/>
                    <a:ea typeface="宋体" panose="02010600030101010101" pitchFamily="2" charset="-122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{"需求准备","后端与数据","前端与图表","AI与移动端","测试结项"}</c:f>
              <c:strCache>
                <c:ptCount val="5"/>
                <c:pt idx="0">
                  <c:v>需求准备 W1-W2</c:v>
                </c:pt>
                <c:pt idx="1">
                  <c:v>后端与数据 W2-W4</c:v>
                </c:pt>
                <c:pt idx="2">
                  <c:v>前端与图表 W4-W6</c:v>
                </c:pt>
                <c:pt idx="3">
                  <c:v>AI与移动端 W7-W10</c:v>
                </c:pt>
                <c:pt idx="4">
                  <c:v>测试与结项 W10-W12</c:v>
                </c:pt>
              </c:strCache>
            </c:strRef>
          </c:cat>
          <c:val>
            <c:numRef>
              <c:f>{2,3,3,4,3}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548011"/>
        <c:axId val="14548012"/>
      </c:barChart>
      <c:catAx>
        <c:axId val="1454801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rgbClr val="D9D9D9">
                <a:alpha val="100000"/>
              </a:srgb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rgbClr val="30394C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defRPr>
            </a:pPr>
          </a:p>
        </c:txPr>
        <c:crossAx val="14548012"/>
        <c:crosses val="autoZero"/>
        <c:auto val="1"/>
        <c:lblAlgn val="ctr"/>
        <c:lblOffset val="100"/>
        <c:noMultiLvlLbl val="1"/>
      </c:catAx>
      <c:valAx>
        <c:axId val="14548012"/>
        <c:scaling>
          <c:orientation val="minMax"/>
        </c:scaling>
        <c:delete val="1"/>
        <c:axPos val="b"/>
        <c:majorGridlines>
          <c:spPr>
            <a:ln w="6350" cap="flat" cmpd="sng" algn="ctr">
              <a:solidFill>
                <a:srgbClr val="30394C">
                  <a:alpha val="50000"/>
                </a:srgbClr>
              </a:solidFill>
              <a:prstDash val="sysDot"/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45480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  <c:extLst>
      <c:ext uri="{0b15fc19-7d7d-44ad-8c2d-2c3a37ce22c3}">
        <chartProps xmlns="https://web.wps.cn/et/2018/main" chartId="{b2f1725f-8f3a-4e7e-9794-aeeccf3349a4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本次汇报在原有项目介绍基础上，新增可行性分析与项目计划两大部分。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汇报分五个部分：背景与目标、需求与功能、技术架构与 AI 分析、可行性分析、项目计划与实施。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先说明项目背景：训练与饮食记录分散，用户难以快速回答练了几次、摄入多少、体重如何变化。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明确核心目标与本期边界，新增一键 AI 健身分析与 Android 手机 App 两项内容。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需求共八个模块，此处展开训练、饮食、身体数据与统计分析四项核心功能。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技术架构分三层：表现层与移动端、业务层与数据层、本地 AI 服务层。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核心数据表共十张，关键业务规则保证营养换算、体重唯一与完成率口径一致。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一键 AI 分析遵循授权、汇总、生成、可撤回四步，只发送必要字段。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项目周期十二周，设七个里程碑，各阶段投入周数如图所示。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工程网络图给出七项活动的紧前关系与两条等长关键路径。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甘特图直观展示各阶段起止时间与三个关键里程碑节点。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经济与资源、操作与使用可行，法律与伦理可行但须落实，进度为唯一有条件可行项。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可行性分析从六个维度展开，综合判定为总体可行、须按附加条件执行。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里程碑节点与四项保障措施，重点是用好第十周缓冲。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参考资料涵盖技术方案、移动封装与模型接口三类官方文档。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请各位老师和同学批评指正。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需求维度可行、技术维度基本可行，判据与验证路径已在表中列明。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高风险四项均配前置验证、降级兜底与专项验收，残余风险可控。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本次可行性分析部分由方文锦主导并占主要地位，陈智杰负责校验与资料查询。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1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88395"/>
              </a:buClr>
              <a:buSzPts val="1800"/>
              <a:buNone/>
              <a:defRPr sz="1800">
                <a:solidFill>
                  <a:srgbClr val="78839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500"/>
              <a:buNone/>
              <a:defRPr sz="1500">
                <a:solidFill>
                  <a:srgbClr val="78839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400"/>
              <a:buNone/>
              <a:defRPr sz="1400">
                <a:solidFill>
                  <a:srgbClr val="78839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200"/>
              <a:buNone/>
              <a:defRPr sz="1200">
                <a:solidFill>
                  <a:srgbClr val="78839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200"/>
              <a:buNone/>
              <a:defRPr sz="1200">
                <a:solidFill>
                  <a:srgbClr val="78839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200"/>
              <a:buNone/>
              <a:defRPr sz="1200">
                <a:solidFill>
                  <a:srgbClr val="78839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200"/>
              <a:buNone/>
              <a:defRPr sz="1200">
                <a:solidFill>
                  <a:srgbClr val="78839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200"/>
              <a:buNone/>
              <a:defRPr sz="1200">
                <a:solidFill>
                  <a:srgbClr val="78839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200"/>
              <a:buNone/>
              <a:defRPr sz="1200">
                <a:solidFill>
                  <a:srgbClr val="788395"/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2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7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8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9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4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5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6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7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8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3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2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3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4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9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60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1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6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7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6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3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4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5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6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8" Type="http://schemas.openxmlformats.org/officeDocument/2006/relationships/notesSlide" Target="../notesSlides/notesSlide5.xml"/><Relationship Id="rId17" Type="http://schemas.openxmlformats.org/officeDocument/2006/relationships/slideLayout" Target="../slideLayouts/slideLayout12.xml"/><Relationship Id="rId16" Type="http://schemas.openxmlformats.org/officeDocument/2006/relationships/tags" Target="../tags/tag22.xml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8" Type="http://schemas.openxmlformats.org/officeDocument/2006/relationships/notesSlide" Target="../notesSlides/notesSlide11.xml"/><Relationship Id="rId17" Type="http://schemas.openxmlformats.org/officeDocument/2006/relationships/slideLayout" Target="../slideLayouts/slideLayout12.xml"/><Relationship Id="rId16" Type="http://schemas.openxmlformats.org/officeDocument/2006/relationships/tags" Target="../tags/tag38.xml"/><Relationship Id="rId15" Type="http://schemas.openxmlformats.org/officeDocument/2006/relationships/tags" Target="../tags/tag37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tags" Target="../tags/tag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chart" Target="../charts/char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组合 72"/>
          <p:cNvGrpSpPr/>
          <p:nvPr/>
        </p:nvGrpSpPr>
        <p:grpSpPr>
          <a:xfrm>
            <a:off x="-239398" y="-1280369"/>
            <a:ext cx="12667766" cy="9418738"/>
            <a:chOff x="-239398" y="-1280369"/>
            <a:chExt cx="12667766" cy="9418738"/>
          </a:xfrm>
        </p:grpSpPr>
        <p:cxnSp>
          <p:nvCxnSpPr>
            <p:cNvPr id="33" name="直线连接符 32"/>
            <p:cNvCxnSpPr/>
            <p:nvPr/>
          </p:nvCxnSpPr>
          <p:spPr>
            <a:xfrm>
              <a:off x="11945342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线连接符 36"/>
            <p:cNvCxnSpPr/>
            <p:nvPr/>
          </p:nvCxnSpPr>
          <p:spPr>
            <a:xfrm>
              <a:off x="243628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线连接符 37"/>
            <p:cNvCxnSpPr/>
            <p:nvPr/>
          </p:nvCxnSpPr>
          <p:spPr>
            <a:xfrm>
              <a:off x="524797" y="385358"/>
              <a:ext cx="0" cy="60829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线连接符 38"/>
            <p:cNvCxnSpPr/>
            <p:nvPr/>
          </p:nvCxnSpPr>
          <p:spPr>
            <a:xfrm flipH="1">
              <a:off x="-213761" y="6442064"/>
              <a:ext cx="12642129" cy="26232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线连接符 39"/>
            <p:cNvCxnSpPr/>
            <p:nvPr/>
          </p:nvCxnSpPr>
          <p:spPr>
            <a:xfrm flipH="1">
              <a:off x="-239398" y="359072"/>
              <a:ext cx="12667766" cy="26286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线连接符 60"/>
            <p:cNvCxnSpPr/>
            <p:nvPr/>
          </p:nvCxnSpPr>
          <p:spPr>
            <a:xfrm>
              <a:off x="6074941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线连接符 69"/>
            <p:cNvCxnSpPr/>
            <p:nvPr/>
          </p:nvCxnSpPr>
          <p:spPr>
            <a:xfrm>
              <a:off x="11733284" y="359233"/>
              <a:ext cx="0" cy="60829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线连接符 71"/>
            <p:cNvCxnSpPr/>
            <p:nvPr/>
          </p:nvCxnSpPr>
          <p:spPr>
            <a:xfrm flipH="1">
              <a:off x="-239398" y="3426122"/>
              <a:ext cx="12667766" cy="26286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0A84FF"/>
                  </a:solidFill>
                  <a:latin typeface="MiSans VF Demibold" pitchFamily="2" charset="-122"/>
                  <a:ea typeface="MiSans VF Demibold" pitchFamily="2" charset="-122"/>
                  <a:cs typeface="MiSans VF Demibold" pitchFamily="2" charset="-122"/>
                  <a:sym typeface="JetBrains Mono"/>
                </a:rPr>
                <a:t>FITNESS APP</a:t>
              </a:r>
              <a:endParaRPr lang="en-US" sz="800" dirty="0">
                <a:solidFill>
                  <a:srgbClr val="0A84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0A84FF"/>
                  </a:solidFill>
                  <a:latin typeface="MiSans VF Demibold" pitchFamily="2" charset="-122"/>
                  <a:ea typeface="MiSans VF Demibold" pitchFamily="2" charset="-122"/>
                  <a:cs typeface="MiSans VF Demibold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0A84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</a:endParaRPr>
            </a:p>
          </p:txBody>
        </p:sp>
        <p:sp>
          <p:nvSpPr>
            <p:cNvPr id="5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0A84FF"/>
                  </a:solidFill>
                  <a:latin typeface="MiSans VF Demibold" pitchFamily="2" charset="-122"/>
                  <a:ea typeface="MiSans VF Demibold" pitchFamily="2" charset="-122"/>
                  <a:cs typeface="MiSans VF Demibold" pitchFamily="2" charset="-122"/>
                  <a:sym typeface="JetBrains Mono"/>
                </a:rPr>
                <a:t>COVER</a:t>
              </a:r>
              <a:endParaRPr lang="en-US" sz="800" dirty="0">
                <a:solidFill>
                  <a:srgbClr val="0A84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</a:endParaRPr>
            </a:p>
          </p:txBody>
        </p:sp>
      </p:grpSp>
      <p:sp>
        <p:nvSpPr>
          <p:cNvPr id="6" name="AutoShape 2"/>
          <p:cNvSpPr/>
          <p:nvPr/>
        </p:nvSpPr>
        <p:spPr>
          <a:xfrm>
            <a:off x="524799" y="3723169"/>
            <a:ext cx="11208481" cy="179536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pPr>
              <a:lnSpc>
                <a:spcPts val="7000"/>
              </a:lnSpc>
              <a:defRPr/>
            </a:pPr>
            <a:r>
              <a:rPr lang="zh-CN" altLang="en-US" sz="6200" b="1" dirty="0">
                <a:solidFill>
                  <a:srgbClr val="0A84FF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ChillYunmoGothicBold"/>
              </a:rPr>
              <a:t>健身训练与饮食管理系统</a:t>
            </a:r>
            <a:endParaRPr lang="en-US" altLang="zh-CN" sz="62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</a:endParaRPr>
          </a:p>
          <a:p>
            <a:pPr>
              <a:lnSpc>
                <a:spcPts val="7000"/>
              </a:lnSpc>
              <a:defRPr/>
            </a:pPr>
            <a:endParaRPr lang="en-US" altLang="zh-CN" sz="62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ChillYunmoGothicBold"/>
            </a:endParaRPr>
          </a:p>
        </p:txBody>
      </p:sp>
      <p:sp>
        <p:nvSpPr>
          <p:cNvPr id="7" name="AutoShape 2"/>
          <p:cNvSpPr/>
          <p:nvPr/>
        </p:nvSpPr>
        <p:spPr>
          <a:xfrm>
            <a:off x="524799" y="5532387"/>
            <a:ext cx="11208481" cy="89768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normAutofit/>
          </a:bodyPr>
          <a:lstStyle/>
          <a:p>
            <a:pPr>
              <a:lnSpc>
                <a:spcPts val="7000"/>
              </a:lnSpc>
              <a:defRPr/>
            </a:pPr>
            <a:r>
              <a:rPr lang="en-US" altLang="zh-CN" sz="5580" b="1" i="1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FITNESS &amp; DIET MANAGEMENT APP</a:t>
            </a:r>
            <a:endParaRPr lang="en-US" altLang="zh-CN" sz="5580" dirty="0">
              <a:solidFill>
                <a:srgbClr val="202632"/>
              </a:solidFill>
              <a:latin typeface="MiSans VF ExtraLight" pitchFamily="2" charset="-122"/>
              <a:ea typeface="MiSans VF ExtraLight" pitchFamily="2" charset="-122"/>
              <a:cs typeface="MiSans VF ExtraLight" pitchFamily="2" charset="-122"/>
              <a:sym typeface="ChillYunmoGothic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6296904" y="2458343"/>
            <a:ext cx="5437675" cy="585457"/>
            <a:chOff x="6296904" y="2086306"/>
            <a:chExt cx="5437675" cy="585457"/>
          </a:xfrm>
        </p:grpSpPr>
        <p:sp>
          <p:nvSpPr>
            <p:cNvPr id="9" name="AutoShape 4"/>
            <p:cNvSpPr/>
            <p:nvPr/>
          </p:nvSpPr>
          <p:spPr>
            <a:xfrm>
              <a:off x="6296904" y="2086306"/>
              <a:ext cx="425842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en-US" sz="1600" dirty="0">
                  <a:solidFill>
                    <a:srgbClr val="202632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ChillYunmoGothicBold"/>
                </a:rPr>
                <a:t>一 项目背景与目标</a:t>
              </a:r>
              <a:endParaRPr lang="zh-CN" altLang="en-US" sz="16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endParaRPr>
            </a:p>
          </p:txBody>
        </p:sp>
        <p:sp>
          <p:nvSpPr>
            <p:cNvPr id="10" name="AutoShape 4"/>
            <p:cNvSpPr/>
            <p:nvPr/>
          </p:nvSpPr>
          <p:spPr>
            <a:xfrm>
              <a:off x="10948737" y="2086306"/>
              <a:ext cx="78584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1600" dirty="0">
                  <a:solidFill>
                    <a:srgbClr val="0A84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黑体" panose="02010609060101010101" charset="-122"/>
                </a:rPr>
                <a:t>01</a:t>
              </a:r>
              <a:endParaRPr lang="zh-CN" altLang="en-US" sz="1600" dirty="0">
                <a:solidFill>
                  <a:srgbClr val="0A84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endParaRPr>
            </a:p>
          </p:txBody>
        </p:sp>
        <p:cxnSp>
          <p:nvCxnSpPr>
            <p:cNvPr id="17" name="直线连接符 16"/>
            <p:cNvCxnSpPr/>
            <p:nvPr/>
          </p:nvCxnSpPr>
          <p:spPr>
            <a:xfrm>
              <a:off x="6296904" y="2671763"/>
              <a:ext cx="5437675" cy="0"/>
            </a:xfrm>
            <a:prstGeom prst="line">
              <a:avLst/>
            </a:prstGeom>
            <a:ln>
              <a:solidFill>
                <a:srgbClr val="202632">
                  <a:alpha val="1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/>
          <p:cNvGrpSpPr/>
          <p:nvPr/>
        </p:nvGrpSpPr>
        <p:grpSpPr>
          <a:xfrm>
            <a:off x="6296904" y="3345341"/>
            <a:ext cx="5437675" cy="585457"/>
            <a:chOff x="6296904" y="2086306"/>
            <a:chExt cx="5437675" cy="585457"/>
          </a:xfrm>
        </p:grpSpPr>
        <p:sp>
          <p:nvSpPr>
            <p:cNvPr id="20" name="AutoShape 4"/>
            <p:cNvSpPr/>
            <p:nvPr/>
          </p:nvSpPr>
          <p:spPr>
            <a:xfrm>
              <a:off x="6296904" y="2086306"/>
              <a:ext cx="425842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en-US" sz="1600" dirty="0">
                  <a:solidFill>
                    <a:srgbClr val="202632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ChillYunmoGothicBold"/>
                </a:rPr>
                <a:t>二 需求与功能模块</a:t>
              </a:r>
              <a:endParaRPr lang="zh-CN" altLang="en-US" sz="16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endParaRPr>
            </a:p>
          </p:txBody>
        </p:sp>
        <p:sp>
          <p:nvSpPr>
            <p:cNvPr id="21" name="AutoShape 4"/>
            <p:cNvSpPr/>
            <p:nvPr/>
          </p:nvSpPr>
          <p:spPr>
            <a:xfrm>
              <a:off x="10948737" y="2086306"/>
              <a:ext cx="78584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1600" dirty="0">
                  <a:solidFill>
                    <a:srgbClr val="0A84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黑体" panose="02010609060101010101" charset="-122"/>
                </a:rPr>
                <a:t>02</a:t>
              </a:r>
              <a:endParaRPr lang="zh-CN" altLang="en-US" sz="1600" dirty="0">
                <a:solidFill>
                  <a:srgbClr val="0A84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endParaRPr>
            </a:p>
          </p:txBody>
        </p:sp>
        <p:cxnSp>
          <p:nvCxnSpPr>
            <p:cNvPr id="23" name="直线连接符 22"/>
            <p:cNvCxnSpPr/>
            <p:nvPr/>
          </p:nvCxnSpPr>
          <p:spPr>
            <a:xfrm>
              <a:off x="6296904" y="2671763"/>
              <a:ext cx="5437675" cy="0"/>
            </a:xfrm>
            <a:prstGeom prst="line">
              <a:avLst/>
            </a:prstGeom>
            <a:ln>
              <a:solidFill>
                <a:srgbClr val="202632">
                  <a:alpha val="1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组合 27"/>
          <p:cNvGrpSpPr/>
          <p:nvPr/>
        </p:nvGrpSpPr>
        <p:grpSpPr>
          <a:xfrm>
            <a:off x="6296904" y="4232339"/>
            <a:ext cx="5437675" cy="585457"/>
            <a:chOff x="6296904" y="2086306"/>
            <a:chExt cx="5437675" cy="585457"/>
          </a:xfrm>
        </p:grpSpPr>
        <p:sp>
          <p:nvSpPr>
            <p:cNvPr id="29" name="AutoShape 4"/>
            <p:cNvSpPr/>
            <p:nvPr/>
          </p:nvSpPr>
          <p:spPr>
            <a:xfrm>
              <a:off x="6296904" y="2086306"/>
              <a:ext cx="425842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en-US" sz="1600" dirty="0">
                  <a:solidFill>
                    <a:srgbClr val="202632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黑体" panose="02010609060101010101" charset="-122"/>
                </a:rPr>
                <a:t>三 技术架构与 AI 分析</a:t>
              </a:r>
              <a:endParaRPr lang="zh-CN" altLang="en-US" sz="16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endParaRPr>
            </a:p>
          </p:txBody>
        </p:sp>
        <p:sp>
          <p:nvSpPr>
            <p:cNvPr id="30" name="AutoShape 4"/>
            <p:cNvSpPr/>
            <p:nvPr/>
          </p:nvSpPr>
          <p:spPr>
            <a:xfrm>
              <a:off x="10948737" y="2086306"/>
              <a:ext cx="78584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1600" dirty="0">
                  <a:solidFill>
                    <a:srgbClr val="0A84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黑体" panose="02010609060101010101" charset="-122"/>
                </a:rPr>
                <a:t>03</a:t>
              </a:r>
              <a:endParaRPr lang="zh-CN" altLang="en-US" sz="1600" dirty="0">
                <a:solidFill>
                  <a:srgbClr val="0A84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endParaRPr>
            </a:p>
          </p:txBody>
        </p:sp>
        <p:cxnSp>
          <p:nvCxnSpPr>
            <p:cNvPr id="32" name="直线连接符 31"/>
            <p:cNvCxnSpPr/>
            <p:nvPr/>
          </p:nvCxnSpPr>
          <p:spPr>
            <a:xfrm>
              <a:off x="6296904" y="2671763"/>
              <a:ext cx="5437675" cy="0"/>
            </a:xfrm>
            <a:prstGeom prst="line">
              <a:avLst/>
            </a:prstGeom>
            <a:ln>
              <a:solidFill>
                <a:srgbClr val="202632">
                  <a:alpha val="1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组合 36"/>
          <p:cNvGrpSpPr/>
          <p:nvPr/>
        </p:nvGrpSpPr>
        <p:grpSpPr>
          <a:xfrm>
            <a:off x="6296904" y="5119339"/>
            <a:ext cx="5437675" cy="585457"/>
            <a:chOff x="6296904" y="2086306"/>
            <a:chExt cx="5437675" cy="585457"/>
          </a:xfrm>
        </p:grpSpPr>
        <p:sp>
          <p:nvSpPr>
            <p:cNvPr id="38" name="AutoShape 4"/>
            <p:cNvSpPr/>
            <p:nvPr/>
          </p:nvSpPr>
          <p:spPr>
            <a:xfrm>
              <a:off x="6296904" y="2086306"/>
              <a:ext cx="425842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en-US" sz="1600" dirty="0">
                  <a:solidFill>
                    <a:srgbClr val="202632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ChillYunmoGothicBold"/>
                </a:rPr>
                <a:t>四 可行性分析</a:t>
              </a:r>
              <a:endParaRPr lang="zh-CN" altLang="en-US" sz="16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endParaRPr>
            </a:p>
          </p:txBody>
        </p:sp>
        <p:sp>
          <p:nvSpPr>
            <p:cNvPr id="39" name="AutoShape 4"/>
            <p:cNvSpPr/>
            <p:nvPr/>
          </p:nvSpPr>
          <p:spPr>
            <a:xfrm>
              <a:off x="10948737" y="2086306"/>
              <a:ext cx="78584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1600" dirty="0">
                  <a:solidFill>
                    <a:srgbClr val="0A84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黑体" panose="02010609060101010101" charset="-122"/>
                </a:rPr>
                <a:t>04</a:t>
              </a:r>
              <a:endParaRPr lang="zh-CN" altLang="en-US" sz="1600" dirty="0">
                <a:solidFill>
                  <a:srgbClr val="0A84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endParaRPr>
            </a:p>
          </p:txBody>
        </p:sp>
        <p:cxnSp>
          <p:nvCxnSpPr>
            <p:cNvPr id="41" name="直线连接符 40"/>
            <p:cNvCxnSpPr/>
            <p:nvPr/>
          </p:nvCxnSpPr>
          <p:spPr>
            <a:xfrm>
              <a:off x="6296904" y="2671763"/>
              <a:ext cx="5437675" cy="0"/>
            </a:xfrm>
            <a:prstGeom prst="line">
              <a:avLst/>
            </a:prstGeom>
            <a:ln>
              <a:solidFill>
                <a:srgbClr val="202632">
                  <a:alpha val="1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FITNESS APP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5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CONTENT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16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G13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6296904" y="1571345"/>
            <a:ext cx="5437675" cy="585457"/>
            <a:chOff x="6296904" y="2086306"/>
            <a:chExt cx="5437675" cy="585457"/>
          </a:xfrm>
        </p:grpSpPr>
        <p:sp>
          <p:nvSpPr>
            <p:cNvPr id="47" name="AutoShape 4"/>
            <p:cNvSpPr/>
            <p:nvPr/>
          </p:nvSpPr>
          <p:spPr>
            <a:xfrm>
              <a:off x="6296904" y="2086306"/>
              <a:ext cx="425842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en-US" sz="1600" dirty="0">
                  <a:solidFill>
                    <a:srgbClr val="202632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ChillYunmoGothicBold"/>
                </a:rPr>
                <a:t>五 项目计划与实施</a:t>
              </a:r>
              <a:endParaRPr lang="zh-CN" altLang="en-US" sz="16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endParaRPr>
            </a:p>
          </p:txBody>
        </p:sp>
        <p:sp>
          <p:nvSpPr>
            <p:cNvPr id="48" name="AutoShape 4"/>
            <p:cNvSpPr/>
            <p:nvPr/>
          </p:nvSpPr>
          <p:spPr>
            <a:xfrm>
              <a:off x="10948737" y="2086306"/>
              <a:ext cx="78584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1600" dirty="0">
                  <a:solidFill>
                    <a:srgbClr val="0A84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黑体" panose="02010609060101010101" charset="-122"/>
                </a:rPr>
                <a:t>05</a:t>
              </a:r>
              <a:endParaRPr lang="zh-CN" altLang="en-US" sz="1600" dirty="0">
                <a:solidFill>
                  <a:srgbClr val="0A84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endParaRPr>
            </a:p>
          </p:txBody>
        </p:sp>
        <p:cxnSp>
          <p:nvCxnSpPr>
            <p:cNvPr id="49" name="直线连接符 48"/>
            <p:cNvCxnSpPr/>
            <p:nvPr/>
          </p:nvCxnSpPr>
          <p:spPr>
            <a:xfrm>
              <a:off x="6296904" y="2671763"/>
              <a:ext cx="5437675" cy="0"/>
            </a:xfrm>
            <a:prstGeom prst="line">
              <a:avLst/>
            </a:prstGeom>
            <a:ln>
              <a:solidFill>
                <a:srgbClr val="202632">
                  <a:alpha val="1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AutoShape 2"/>
          <p:cNvSpPr/>
          <p:nvPr/>
        </p:nvSpPr>
        <p:spPr>
          <a:xfrm>
            <a:off x="524800" y="2858627"/>
            <a:ext cx="5115514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0A84FF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ChillYunmoGothicBold"/>
              </a:rPr>
              <a:t>目录</a:t>
            </a:r>
            <a:endParaRPr lang="en-US" altLang="zh-CN" sz="4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ChillYunmoGothicBold"/>
            </a:endParaRPr>
          </a:p>
        </p:txBody>
      </p:sp>
      <p:sp>
        <p:nvSpPr>
          <p:cNvPr id="8" name="AutoShape 2"/>
          <p:cNvSpPr/>
          <p:nvPr/>
        </p:nvSpPr>
        <p:spPr>
          <a:xfrm>
            <a:off x="524800" y="3474180"/>
            <a:ext cx="5115514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zh-CN" sz="4000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CONTENTS</a:t>
            </a:r>
            <a:endParaRPr lang="en-US" altLang="zh-CN" sz="4000" b="1" i="1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ChillYunmoGothic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7843520" y="1"/>
            <a:ext cx="4348478" cy="2091765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257363" y="2091766"/>
            <a:ext cx="5934637" cy="47662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FITNESS APP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F7FAFF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F7FAFF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G13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6" name="AutoShape 5"/>
          <p:cNvSpPr/>
          <p:nvPr/>
        </p:nvSpPr>
        <p:spPr>
          <a:xfrm>
            <a:off x="524799" y="1206344"/>
            <a:ext cx="4495436" cy="1231106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一 项目背景与意义</a:t>
            </a:r>
            <a:endParaRPr lang="en-US" altLang="zh-CN" sz="4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  <a:p>
            <a:pPr>
              <a:defRPr/>
            </a:pPr>
            <a:endParaRPr lang="en-US" altLang="zh-CN" sz="4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24510" y="2643505"/>
            <a:ext cx="4884420" cy="41173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训练动作、组数、饮食克重与体重常分散记录在不同位置。</a:t>
            </a:r>
            <a:endParaRPr lang="en-US" altLang="zh-CN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用户难以快速回答本周练了几次、当天摄入多少、近期体重如何变化。</a:t>
            </a:r>
            <a:endParaRPr lang="zh-CN" altLang="en-US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本项目以统一日期与用户身份关联记录，在手机上完成记录、回顾与自动分析。</a:t>
            </a:r>
            <a:endParaRPr lang="zh-CN" altLang="en-US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817507" y="1206343"/>
            <a:ext cx="19157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sz="1400" b="1" i="1" dirty="0">
                <a:solidFill>
                  <a:srgbClr val="F7FA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BACKGROUND</a:t>
            </a:r>
            <a:endParaRPr lang="en-US" altLang="zh-CN" sz="1400" b="1" i="1" u="none" strike="noStrike" dirty="0">
              <a:solidFill>
                <a:srgbClr val="F7FA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pic>
        <p:nvPicPr>
          <p:cNvPr id="12" name="图片 11" descr="Story pin image"/>
          <p:cNvPicPr>
            <a:picLocks noChangeAspect="1"/>
          </p:cNvPicPr>
          <p:nvPr/>
        </p:nvPicPr>
        <p:blipFill>
          <a:blip r:embed="rId1"/>
          <a:srcRect l="27187" r="27187"/>
          <a:stretch>
            <a:fillRect/>
          </a:stretch>
        </p:blipFill>
        <p:spPr>
          <a:xfrm rot="16200000">
            <a:off x="7104464" y="1498221"/>
            <a:ext cx="3781720" cy="54759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FITNESS APP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G13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6" name="AutoShape 5"/>
          <p:cNvSpPr/>
          <p:nvPr/>
        </p:nvSpPr>
        <p:spPr>
          <a:xfrm>
            <a:off x="524799" y="1206344"/>
            <a:ext cx="4495436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二 项目目标与边界</a:t>
            </a:r>
            <a:endParaRPr lang="en-US" altLang="zh-CN" sz="4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4364518" y="2302349"/>
            <a:ext cx="3529043" cy="1921967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文本框 14"/>
          <p:cNvSpPr txBox="1"/>
          <p:nvPr>
            <p:custDataLst>
              <p:tags r:id="rId2"/>
            </p:custDataLst>
          </p:nvPr>
        </p:nvSpPr>
        <p:spPr>
          <a:xfrm>
            <a:off x="524510" y="4519930"/>
            <a:ext cx="3319145" cy="162496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核心目标是支持用户完成制定计划、记录执行、查看统计、分析情况、调整安排的完整过程。</a:t>
            </a:r>
            <a:endParaRPr lang="en-US" altLang="zh-CN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系统定位为个人记录与管理工具，营养数据标注来源，结果属于估算。</a:t>
            </a:r>
            <a:endParaRPr lang="zh-CN" altLang="en-US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817507" y="1206343"/>
            <a:ext cx="19157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sz="1400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GOALS &amp; SCOPE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sp>
        <p:nvSpPr>
          <p:cNvPr id="18" name="矩形 17"/>
          <p:cNvSpPr/>
          <p:nvPr>
            <p:custDataLst>
              <p:tags r:id="rId3"/>
            </p:custDataLst>
          </p:nvPr>
        </p:nvSpPr>
        <p:spPr>
          <a:xfrm>
            <a:off x="524796" y="2302349"/>
            <a:ext cx="3529043" cy="19219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1" name="文本框 20"/>
          <p:cNvSpPr txBox="1"/>
          <p:nvPr>
            <p:custDataLst>
              <p:tags r:id="rId4"/>
            </p:custDataLst>
          </p:nvPr>
        </p:nvSpPr>
        <p:spPr>
          <a:xfrm>
            <a:off x="734837" y="3077508"/>
            <a:ext cx="3108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000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核心目标</a:t>
            </a:r>
            <a:endParaRPr lang="en-US" altLang="zh-CN" sz="2000" u="none" strike="noStrike" dirty="0">
              <a:solidFill>
                <a:srgbClr val="202632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5"/>
            </p:custDataLst>
          </p:nvPr>
        </p:nvSpPr>
        <p:spPr>
          <a:xfrm>
            <a:off x="4650429" y="3077508"/>
            <a:ext cx="30305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000" dirty="0">
                <a:solidFill>
                  <a:schemeClr val="bg1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本期新增</a:t>
            </a:r>
            <a:endParaRPr lang="en-US" altLang="zh-CN" sz="2000" u="none" strike="noStrike" dirty="0">
              <a:solidFill>
                <a:schemeClr val="bg1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6"/>
            </p:custDataLst>
          </p:nvPr>
        </p:nvSpPr>
        <p:spPr>
          <a:xfrm>
            <a:off x="4364355" y="4519930"/>
            <a:ext cx="3768725" cy="17748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一键AI健身分析：授权后自动汇总已有记录，生成阶段性总结与建议。</a:t>
            </a:r>
            <a:endParaRPr lang="zh-CN" altLang="en-US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Android手机App：以Vue页面经Capacitor封装，适配屏幕、触控与网络。</a:t>
            </a:r>
            <a:endParaRPr lang="zh-CN" altLang="en-US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FITNESS APP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G13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FUNCTIONS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24798" y="1206344"/>
            <a:ext cx="8395881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三 需求与功能模块</a:t>
            </a:r>
            <a:endParaRPr lang="en-US" altLang="zh-CN" sz="4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3337401" y="2161017"/>
            <a:ext cx="2770674" cy="3821329"/>
          </a:xfrm>
          <a:prstGeom prst="rect">
            <a:avLst/>
          </a:prstGeom>
          <a:solidFill>
            <a:srgbClr val="25C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25C2D9"/>
              </a:solidFill>
            </a:endParaRPr>
          </a:p>
        </p:txBody>
      </p:sp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6150006" y="2161017"/>
            <a:ext cx="2770674" cy="3821329"/>
          </a:xfrm>
          <a:prstGeom prst="rect">
            <a:avLst/>
          </a:prstGeom>
          <a:solidFill>
            <a:srgbClr val="3153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矩形 15"/>
          <p:cNvSpPr/>
          <p:nvPr>
            <p:custDataLst>
              <p:tags r:id="rId3"/>
            </p:custDataLst>
          </p:nvPr>
        </p:nvSpPr>
        <p:spPr>
          <a:xfrm>
            <a:off x="524796" y="2161017"/>
            <a:ext cx="2770674" cy="3821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8" name="矩形 17"/>
          <p:cNvSpPr/>
          <p:nvPr>
            <p:custDataLst>
              <p:tags r:id="rId4"/>
            </p:custDataLst>
          </p:nvPr>
        </p:nvSpPr>
        <p:spPr>
          <a:xfrm>
            <a:off x="8962610" y="2161017"/>
            <a:ext cx="2770674" cy="3821329"/>
          </a:xfrm>
          <a:prstGeom prst="rect">
            <a:avLst/>
          </a:prstGeom>
          <a:solidFill>
            <a:srgbClr val="202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202632"/>
              </a:solidFill>
            </a:endParaRPr>
          </a:p>
        </p:txBody>
      </p:sp>
      <p:sp>
        <p:nvSpPr>
          <p:cNvPr id="22" name="AutoShape 2"/>
          <p:cNvSpPr/>
          <p:nvPr>
            <p:custDataLst>
              <p:tags r:id="rId5"/>
            </p:custDataLst>
          </p:nvPr>
        </p:nvSpPr>
        <p:spPr>
          <a:xfrm>
            <a:off x="690202" y="2295779"/>
            <a:ext cx="2432106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zh-CN" sz="4000" b="1" i="1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01</a:t>
            </a:r>
            <a:endParaRPr lang="en-US" altLang="zh-CN" sz="4000" b="1" i="1" dirty="0">
              <a:solidFill>
                <a:srgbClr val="202632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ChillYunmoGothicBold"/>
            </a:endParaRPr>
          </a:p>
        </p:txBody>
      </p:sp>
      <p:sp>
        <p:nvSpPr>
          <p:cNvPr id="23" name="AutoShape 5"/>
          <p:cNvSpPr/>
          <p:nvPr>
            <p:custDataLst>
              <p:tags r:id="rId6"/>
            </p:custDataLst>
          </p:nvPr>
        </p:nvSpPr>
        <p:spPr>
          <a:xfrm>
            <a:off x="694080" y="4754487"/>
            <a:ext cx="2432106" cy="246221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1600" dirty="0">
                <a:solidFill>
                  <a:srgbClr val="202632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  <a:sym typeface="黑体" panose="02010609060101010101" charset="-122"/>
              </a:rPr>
              <a:t>训练管理</a:t>
            </a:r>
            <a:endParaRPr lang="en-US" altLang="zh-CN" sz="1600" dirty="0">
              <a:solidFill>
                <a:srgbClr val="202632"/>
              </a:solidFill>
              <a:latin typeface="MiSans VF Demibold" pitchFamily="2" charset="-122"/>
              <a:ea typeface="MiSans VF Demibold" pitchFamily="2" charset="-122"/>
              <a:cs typeface="MiSans VF Demibold" pitchFamily="2" charset="-122"/>
              <a:sym typeface="黑体" panose="02010609060101010101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7"/>
            </p:custDataLst>
          </p:nvPr>
        </p:nvSpPr>
        <p:spPr>
          <a:xfrm>
            <a:off x="694080" y="5115367"/>
            <a:ext cx="2432107" cy="64579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创建日期计划、选择动作、记录每组重量与次数并完成打卡，完成状态明确，历史可查询。</a:t>
            </a:r>
            <a:endParaRPr lang="zh-CN" altLang="en-US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26" name="AutoShape 5"/>
          <p:cNvSpPr/>
          <p:nvPr>
            <p:custDataLst>
              <p:tags r:id="rId8"/>
            </p:custDataLst>
          </p:nvPr>
        </p:nvSpPr>
        <p:spPr>
          <a:xfrm>
            <a:off x="3509199" y="4754487"/>
            <a:ext cx="2432106" cy="246221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1600" dirty="0">
                <a:solidFill>
                  <a:srgbClr val="202632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  <a:sym typeface="黑体" panose="02010609060101010101" charset="-122"/>
              </a:rPr>
              <a:t>饮食管理</a:t>
            </a:r>
            <a:endParaRPr lang="en-US" altLang="zh-CN" sz="1600" dirty="0">
              <a:solidFill>
                <a:srgbClr val="202632"/>
              </a:solidFill>
              <a:latin typeface="MiSans VF Demibold" pitchFamily="2" charset="-122"/>
              <a:ea typeface="MiSans VF Demibold" pitchFamily="2" charset="-122"/>
              <a:cs typeface="MiSans VF Demibold" pitchFamily="2" charset="-122"/>
              <a:sym typeface="黑体" panose="02010609060101010101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9"/>
            </p:custDataLst>
          </p:nvPr>
        </p:nvSpPr>
        <p:spPr>
          <a:xfrm>
            <a:off x="3509199" y="5115367"/>
            <a:ext cx="2432107" cy="64579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搜索食物、按餐次录入克重，自动汇总能量与三大营养素，修改后同步更新。</a:t>
            </a:r>
            <a:endParaRPr lang="zh-CN" altLang="en-US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29" name="AutoShape 2"/>
          <p:cNvSpPr/>
          <p:nvPr>
            <p:custDataLst>
              <p:tags r:id="rId10"/>
            </p:custDataLst>
          </p:nvPr>
        </p:nvSpPr>
        <p:spPr>
          <a:xfrm>
            <a:off x="3509199" y="2295779"/>
            <a:ext cx="2363139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zh-CN" sz="4000" b="1" i="1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02</a:t>
            </a:r>
            <a:endParaRPr lang="en-US" altLang="zh-CN" sz="4000" b="1" i="1" dirty="0">
              <a:solidFill>
                <a:srgbClr val="202632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ChillYunmoGothicBold"/>
            </a:endParaRPr>
          </a:p>
        </p:txBody>
      </p:sp>
      <p:sp>
        <p:nvSpPr>
          <p:cNvPr id="31" name="AutoShape 5"/>
          <p:cNvSpPr/>
          <p:nvPr>
            <p:custDataLst>
              <p:tags r:id="rId11"/>
            </p:custDataLst>
          </p:nvPr>
        </p:nvSpPr>
        <p:spPr>
          <a:xfrm>
            <a:off x="6316793" y="4754487"/>
            <a:ext cx="2432106" cy="246221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1600" dirty="0">
                <a:solidFill>
                  <a:srgbClr val="EDF7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  <a:sym typeface="黑体" panose="02010609060101010101" charset="-122"/>
              </a:rPr>
              <a:t>身体数据</a:t>
            </a:r>
            <a:endParaRPr lang="en-US" altLang="zh-CN" sz="1600" dirty="0">
              <a:solidFill>
                <a:srgbClr val="EDF7FF"/>
              </a:solidFill>
              <a:latin typeface="MiSans VF Demibold" pitchFamily="2" charset="-122"/>
              <a:ea typeface="MiSans VF Demibold" pitchFamily="2" charset="-122"/>
              <a:cs typeface="MiSans VF Demibold" pitchFamily="2" charset="-122"/>
              <a:sym typeface="黑体" panose="02010609060101010101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12"/>
            </p:custDataLst>
          </p:nvPr>
        </p:nvSpPr>
        <p:spPr>
          <a:xfrm>
            <a:off x="6316793" y="5115367"/>
            <a:ext cx="2432107" cy="64579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dirty="0">
                <a:solidFill>
                  <a:srgbClr val="EDF7FF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按日期记录体重，同一天只保留一条，展示区间变化与七日平均</a:t>
            </a:r>
            <a:r>
              <a:rPr lang="zh-CN" altLang="en-US" sz="1200" dirty="0">
                <a:solidFill>
                  <a:srgbClr val="EDF7FF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。</a:t>
            </a:r>
            <a:endParaRPr lang="zh-CN" altLang="en-US" sz="1200" dirty="0">
              <a:solidFill>
                <a:srgbClr val="EDF7FF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33" name="AutoShape 2"/>
          <p:cNvSpPr/>
          <p:nvPr>
            <p:custDataLst>
              <p:tags r:id="rId13"/>
            </p:custDataLst>
          </p:nvPr>
        </p:nvSpPr>
        <p:spPr>
          <a:xfrm>
            <a:off x="6316793" y="2295779"/>
            <a:ext cx="2363139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zh-CN" sz="4000" b="1" i="1" dirty="0">
                <a:solidFill>
                  <a:srgbClr val="EDF7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03</a:t>
            </a:r>
            <a:endParaRPr lang="en-US" altLang="zh-CN" sz="4000" b="1" i="1" dirty="0">
              <a:solidFill>
                <a:srgbClr val="EDF7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ChillYunmoGothicBold"/>
            </a:endParaRPr>
          </a:p>
        </p:txBody>
      </p:sp>
      <p:sp>
        <p:nvSpPr>
          <p:cNvPr id="34" name="AutoShape 5"/>
          <p:cNvSpPr/>
          <p:nvPr>
            <p:custDataLst>
              <p:tags r:id="rId14"/>
            </p:custDataLst>
          </p:nvPr>
        </p:nvSpPr>
        <p:spPr>
          <a:xfrm>
            <a:off x="9137266" y="4754487"/>
            <a:ext cx="2432106" cy="246221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1600" dirty="0">
                <a:solidFill>
                  <a:srgbClr val="EDF7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  <a:sym typeface="黑体" panose="02010609060101010101" charset="-122"/>
              </a:rPr>
              <a:t>统计分析</a:t>
            </a:r>
            <a:endParaRPr lang="en-US" altLang="zh-CN" sz="1600" dirty="0">
              <a:solidFill>
                <a:srgbClr val="EDF7FF"/>
              </a:solidFill>
              <a:latin typeface="MiSans VF Demibold" pitchFamily="2" charset="-122"/>
              <a:ea typeface="MiSans VF Demibold" pitchFamily="2" charset="-122"/>
              <a:cs typeface="MiSans VF Demibold" pitchFamily="2" charset="-122"/>
              <a:sym typeface="黑体" panose="02010609060101010101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15"/>
            </p:custDataLst>
          </p:nvPr>
        </p:nvSpPr>
        <p:spPr>
          <a:xfrm>
            <a:off x="9137266" y="5115367"/>
            <a:ext cx="2432107" cy="64579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dirty="0">
                <a:solidFill>
                  <a:srgbClr val="EDF7FF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训练完成率、每日摄入与体重趋势，可切换时间范围，缺失记录不冒充零值。</a:t>
            </a:r>
            <a:endParaRPr lang="zh-CN" altLang="en-US" dirty="0">
              <a:solidFill>
                <a:srgbClr val="EDF7FF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36" name="AutoShape 2"/>
          <p:cNvSpPr/>
          <p:nvPr>
            <p:custDataLst>
              <p:tags r:id="rId16"/>
            </p:custDataLst>
          </p:nvPr>
        </p:nvSpPr>
        <p:spPr>
          <a:xfrm>
            <a:off x="9137266" y="2295779"/>
            <a:ext cx="2363139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zh-CN" sz="4000" b="1" i="1" dirty="0">
                <a:solidFill>
                  <a:srgbClr val="EDF7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04</a:t>
            </a:r>
            <a:endParaRPr lang="en-US" altLang="zh-CN" sz="4000" b="1" i="1" dirty="0">
              <a:solidFill>
                <a:srgbClr val="EDF7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ChillYunmoGothic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FITNESS APP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G13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6" name="AutoShape 5"/>
          <p:cNvSpPr/>
          <p:nvPr/>
        </p:nvSpPr>
        <p:spPr>
          <a:xfrm>
            <a:off x="524799" y="1206344"/>
            <a:ext cx="4495436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三 技术架构</a:t>
            </a:r>
            <a:endParaRPr lang="en-US" altLang="zh-CN" sz="4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ARCHITECTURE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6" b="776"/>
          <a:stretch>
            <a:fillRect/>
          </a:stretch>
        </p:blipFill>
        <p:spPr>
          <a:xfrm>
            <a:off x="4365276" y="2302347"/>
            <a:ext cx="3468066" cy="19219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6" b="776"/>
          <a:stretch>
            <a:fillRect/>
          </a:stretch>
        </p:blipFill>
        <p:spPr>
          <a:xfrm>
            <a:off x="8205756" y="2302347"/>
            <a:ext cx="3468066" cy="192196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6" b="776"/>
          <a:stretch>
            <a:fillRect/>
          </a:stretch>
        </p:blipFill>
        <p:spPr>
          <a:xfrm>
            <a:off x="524796" y="2302347"/>
            <a:ext cx="3468066" cy="192196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24796" y="4493086"/>
            <a:ext cx="3319001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表现层与移动端</a:t>
            </a:r>
            <a:endParaRPr lang="zh-CN" altLang="en-US" sz="1200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24796" y="4908953"/>
            <a:ext cx="3319001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Vue3 + Axios + Capacitor</a:t>
            </a: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362505" y="4493086"/>
            <a:ext cx="3319001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业务层与数据层</a:t>
            </a:r>
            <a:endParaRPr lang="zh-CN" altLang="en-US" sz="1600" dirty="0">
              <a:solidFill>
                <a:srgbClr val="202632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362505" y="4908953"/>
            <a:ext cx="3319001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Spring Boot + JPA + MySQL</a:t>
            </a: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200214" y="4493086"/>
            <a:ext cx="3319001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AI服务层</a:t>
            </a:r>
            <a:endParaRPr lang="zh-CN" altLang="en-US" sz="1600" dirty="0">
              <a:solidFill>
                <a:srgbClr val="202632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200214" y="4908953"/>
            <a:ext cx="3319001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Ollama 本地部署 Qwen3-4B</a:t>
            </a: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FITNESS APP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G13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DATA DESIGN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24798" y="1206344"/>
            <a:ext cx="8970075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核心数据表</a:t>
            </a:r>
            <a:endParaRPr lang="en-US" altLang="zh-CN" sz="4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cxnSp>
        <p:nvCxnSpPr>
          <p:cNvPr id="10" name="直线连接符 9"/>
          <p:cNvCxnSpPr/>
          <p:nvPr/>
        </p:nvCxnSpPr>
        <p:spPr>
          <a:xfrm>
            <a:off x="524799" y="2161018"/>
            <a:ext cx="11208485" cy="0"/>
          </a:xfrm>
          <a:prstGeom prst="line">
            <a:avLst/>
          </a:prstGeom>
          <a:ln>
            <a:solidFill>
              <a:srgbClr val="202632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/>
          <p:cNvCxnSpPr/>
          <p:nvPr/>
        </p:nvCxnSpPr>
        <p:spPr>
          <a:xfrm>
            <a:off x="6095999" y="2161018"/>
            <a:ext cx="0" cy="3724494"/>
          </a:xfrm>
          <a:prstGeom prst="line">
            <a:avLst/>
          </a:prstGeom>
          <a:ln>
            <a:solidFill>
              <a:srgbClr val="202632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utoShape 5"/>
          <p:cNvSpPr/>
          <p:nvPr/>
        </p:nvSpPr>
        <p:spPr>
          <a:xfrm>
            <a:off x="524799" y="2532397"/>
            <a:ext cx="4495436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01 数据表与归属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11" name="AutoShape 5"/>
          <p:cNvSpPr/>
          <p:nvPr/>
        </p:nvSpPr>
        <p:spPr>
          <a:xfrm>
            <a:off x="6528693" y="2532397"/>
            <a:ext cx="4495436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02 关键业务规则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4510" y="3211830"/>
            <a:ext cx="5572125" cy="221551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user_account、daily_goal、training_plan、plan_item、workout_log、workout_set、diet_record、body_record、ai_consent、ai_report。</a:t>
            </a:r>
            <a:endParaRPr lang="en-US" altLang="zh-CN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所有私有记录、授权与报告均按user_id归属，常用日期查询建立联合索引，多表写入使用事务。</a:t>
            </a:r>
            <a:endParaRPr lang="zh-CN" altLang="en-US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endParaRPr lang="en-US" altLang="zh-CN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00775" y="3211830"/>
            <a:ext cx="5991225" cy="255460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摄入量 = 每100g营养值 × 克重 ÷ 100，记录保存营养快照。</a:t>
            </a:r>
            <a:endParaRPr lang="en-US" altLang="zh-CN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同日体重唯一，缺失记录显示为空不补零。</a:t>
            </a:r>
            <a:endParaRPr lang="zh-CN" altLang="en-US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完成率 = 已完成计划数 ÷ 未取消计划数，无计划时显示暂无计划。</a:t>
            </a:r>
            <a:endParaRPr lang="zh-CN" altLang="en-US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AI分析先按确定规则计算统计，再交模型解释。</a:t>
            </a:r>
            <a:endParaRPr lang="zh-CN" altLang="en-US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endParaRPr lang="zh-CN" altLang="en-US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FITNESS APP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G13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AI ANALYSIS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24798" y="1206344"/>
            <a:ext cx="8810587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四 一键AI分析流程</a:t>
            </a:r>
            <a:endParaRPr lang="en-US" altLang="zh-CN" sz="4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cxnSp>
        <p:nvCxnSpPr>
          <p:cNvPr id="10" name="直线连接符 9"/>
          <p:cNvCxnSpPr/>
          <p:nvPr/>
        </p:nvCxnSpPr>
        <p:spPr>
          <a:xfrm>
            <a:off x="524799" y="2161018"/>
            <a:ext cx="11208485" cy="0"/>
          </a:xfrm>
          <a:prstGeom prst="line">
            <a:avLst/>
          </a:prstGeom>
          <a:ln>
            <a:solidFill>
              <a:srgbClr val="202632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/>
          <p:cNvCxnSpPr/>
          <p:nvPr/>
        </p:nvCxnSpPr>
        <p:spPr>
          <a:xfrm>
            <a:off x="6095999" y="2161018"/>
            <a:ext cx="0" cy="3724494"/>
          </a:xfrm>
          <a:prstGeom prst="line">
            <a:avLst/>
          </a:prstGeom>
          <a:ln>
            <a:solidFill>
              <a:srgbClr val="202632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utoShape 5"/>
          <p:cNvSpPr/>
          <p:nvPr/>
        </p:nvSpPr>
        <p:spPr>
          <a:xfrm>
            <a:off x="524799" y="2532397"/>
            <a:ext cx="4495436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授权 — 汇总 — 生成 — 可撤回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4510" y="3211830"/>
            <a:ext cx="5278755" cy="3035935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首次进入确认使用范围，后端按当前登录用户身份读取本人数据，无需重复填写。</a:t>
            </a:r>
            <a:endParaRPr lang="en-US" altLang="zh-CN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默认汇总最近30天，可切换7天，先算统计再交模型解释。</a:t>
            </a:r>
            <a:endParaRPr lang="zh-CN" altLang="en-US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报告按数据概况、训练执行、营养摄入、体重趋势与调整建议展示。</a:t>
            </a:r>
            <a:endParaRPr lang="en-US" altLang="zh-CN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只发送必要字段，授权可撤回、报告可删除，模型不可用时保留原始统计。</a:t>
            </a:r>
            <a:endParaRPr lang="zh-CN" altLang="en-US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1" r="3111"/>
          <a:stretch>
            <a:fillRect/>
          </a:stretch>
        </p:blipFill>
        <p:spPr>
          <a:xfrm>
            <a:off x="6387950" y="2432835"/>
            <a:ext cx="5278739" cy="31672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7843520" y="1"/>
            <a:ext cx="4348478" cy="2091765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257363" y="2091766"/>
            <a:ext cx="5934637" cy="47662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FITNESS APP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F7FAFF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F7FAFF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G13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6" name="AutoShape 5"/>
          <p:cNvSpPr/>
          <p:nvPr/>
        </p:nvSpPr>
        <p:spPr>
          <a:xfrm>
            <a:off x="524799" y="1206344"/>
            <a:ext cx="4495436" cy="1231106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五 可行性分析</a:t>
            </a:r>
            <a:endParaRPr lang="en-US" altLang="zh-CN" sz="4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  <a:p>
            <a:pPr>
              <a:defRPr/>
            </a:pPr>
            <a:endParaRPr lang="en-US" altLang="zh-CN" sz="4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24510" y="3117850"/>
            <a:ext cx="5476240" cy="379666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从需求、技术、经济、操作、进度、法律六个维度论证，综合判定为总体可行</a:t>
            </a:r>
            <a:endParaRPr lang="en-US" altLang="zh-CN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需求可行：8 个功能模块均有明确验收依据，功能边界已书面界定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技术基本可行：成熟技术栈为主，本地模型推理待第 7 周前置验证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进度为唯一有条件可行项：工时无冗余，须冻结范围并留好缓冲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817507" y="1206343"/>
            <a:ext cx="19157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sz="1400" b="1" i="1" dirty="0">
                <a:solidFill>
                  <a:srgbClr val="F7FA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FEASIBILITY</a:t>
            </a:r>
            <a:endParaRPr lang="en-US" altLang="zh-CN" sz="1400" b="1" i="1" u="none" strike="noStrike" dirty="0">
              <a:solidFill>
                <a:srgbClr val="F7FA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pic>
        <p:nvPicPr>
          <p:cNvPr id="12" name="图片 11" descr="Story pin image"/>
          <p:cNvPicPr>
            <a:picLocks noChangeAspect="1"/>
          </p:cNvPicPr>
          <p:nvPr/>
        </p:nvPicPr>
        <p:blipFill>
          <a:blip r:embed="rId1"/>
          <a:srcRect l="25036" r="25036"/>
          <a:stretch>
            <a:fillRect/>
          </a:stretch>
        </p:blipFill>
        <p:spPr>
          <a:xfrm rot="16200000">
            <a:off x="7104464" y="1498221"/>
            <a:ext cx="3781720" cy="54759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FITNESS APP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G13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FEASIBILITY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24798" y="1206344"/>
            <a:ext cx="8970075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可行性判定（一）</a:t>
            </a:r>
            <a:endParaRPr lang="en-US" altLang="zh-CN" sz="4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cxnSp>
        <p:nvCxnSpPr>
          <p:cNvPr id="10" name="直线连接符 9"/>
          <p:cNvCxnSpPr/>
          <p:nvPr/>
        </p:nvCxnSpPr>
        <p:spPr>
          <a:xfrm>
            <a:off x="524799" y="2161018"/>
            <a:ext cx="11208485" cy="0"/>
          </a:xfrm>
          <a:prstGeom prst="line">
            <a:avLst/>
          </a:prstGeom>
          <a:ln>
            <a:solidFill>
              <a:srgbClr val="202632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/>
          <p:cNvCxnSpPr/>
          <p:nvPr/>
        </p:nvCxnSpPr>
        <p:spPr>
          <a:xfrm>
            <a:off x="6095999" y="2161018"/>
            <a:ext cx="0" cy="3724494"/>
          </a:xfrm>
          <a:prstGeom prst="line">
            <a:avLst/>
          </a:prstGeom>
          <a:ln>
            <a:solidFill>
              <a:srgbClr val="202632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utoShape 5"/>
          <p:cNvSpPr/>
          <p:nvPr/>
        </p:nvSpPr>
        <p:spPr>
          <a:xfrm>
            <a:off x="524799" y="2532397"/>
            <a:ext cx="4495436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01 需求与技术可行性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11" name="AutoShape 5"/>
          <p:cNvSpPr/>
          <p:nvPr/>
        </p:nvSpPr>
        <p:spPr>
          <a:xfrm>
            <a:off x="6528693" y="2532397"/>
            <a:ext cx="4495436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02 关键判据与验证路径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4798" y="3211552"/>
            <a:ext cx="5115516" cy="243141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需求可行：8 个模块验收依据明确，图片识别与穿戴设备等边界已冻结</a:t>
            </a:r>
            <a:endParaRPr lang="en-US" altLang="zh-CN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技术基本可行：SpringBoot、Vue3、MySQL、ECharts 均为成熟方案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en-US" altLang="zh-CN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AI 服务采用本地 Ollama 部署 Qwen3-4B，数据整理后不出服务端</a:t>
            </a:r>
            <a:endParaRPr lang="en-US" altLang="zh-CN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不确定性集中在推理耗时与输出一致性，以先算后解释兜底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528694" y="3211552"/>
            <a:ext cx="5138506" cy="233870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需求判据：功能边界书面冻结，可有效抑制需求蔓延</a:t>
            </a:r>
            <a:endParaRPr lang="en-US" altLang="zh-CN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技术判据：三方案比较后选定本地部署与 Capacitor 封装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风险判据：高风险 4 项，均配前置验证与降级兜底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验收判据：跨账号隔离、授权撤回、删除报告三类专项用例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FITNESS APP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G13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FEASIBILITY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24798" y="1206344"/>
            <a:ext cx="8395881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可行性判定（二）</a:t>
            </a:r>
            <a:endParaRPr lang="en-US" altLang="zh-CN" sz="4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3337401" y="2161017"/>
            <a:ext cx="2770674" cy="3821329"/>
          </a:xfrm>
          <a:prstGeom prst="rect">
            <a:avLst/>
          </a:prstGeom>
          <a:solidFill>
            <a:srgbClr val="25C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25C2D9"/>
              </a:solidFill>
            </a:endParaRPr>
          </a:p>
        </p:txBody>
      </p:sp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6150006" y="2161017"/>
            <a:ext cx="2770674" cy="3821329"/>
          </a:xfrm>
          <a:prstGeom prst="rect">
            <a:avLst/>
          </a:prstGeom>
          <a:solidFill>
            <a:srgbClr val="3153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矩形 15"/>
          <p:cNvSpPr/>
          <p:nvPr>
            <p:custDataLst>
              <p:tags r:id="rId3"/>
            </p:custDataLst>
          </p:nvPr>
        </p:nvSpPr>
        <p:spPr>
          <a:xfrm>
            <a:off x="524796" y="2161017"/>
            <a:ext cx="2770674" cy="3821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8" name="矩形 17"/>
          <p:cNvSpPr/>
          <p:nvPr>
            <p:custDataLst>
              <p:tags r:id="rId4"/>
            </p:custDataLst>
          </p:nvPr>
        </p:nvSpPr>
        <p:spPr>
          <a:xfrm>
            <a:off x="8962610" y="2161017"/>
            <a:ext cx="2770674" cy="3821329"/>
          </a:xfrm>
          <a:prstGeom prst="rect">
            <a:avLst/>
          </a:prstGeom>
          <a:solidFill>
            <a:srgbClr val="202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202632"/>
              </a:solidFill>
            </a:endParaRPr>
          </a:p>
        </p:txBody>
      </p:sp>
      <p:sp>
        <p:nvSpPr>
          <p:cNvPr id="22" name="AutoShape 2"/>
          <p:cNvSpPr/>
          <p:nvPr>
            <p:custDataLst>
              <p:tags r:id="rId5"/>
            </p:custDataLst>
          </p:nvPr>
        </p:nvSpPr>
        <p:spPr>
          <a:xfrm>
            <a:off x="690202" y="2295779"/>
            <a:ext cx="2432106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zh-CN" sz="4000" b="1" i="1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01</a:t>
            </a:r>
            <a:endParaRPr lang="en-US" altLang="zh-CN" sz="4000" b="1" i="1" dirty="0">
              <a:solidFill>
                <a:srgbClr val="202632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ChillYunmoGothicBold"/>
            </a:endParaRPr>
          </a:p>
        </p:txBody>
      </p:sp>
      <p:sp>
        <p:nvSpPr>
          <p:cNvPr id="23" name="AutoShape 5"/>
          <p:cNvSpPr/>
          <p:nvPr>
            <p:custDataLst>
              <p:tags r:id="rId6"/>
            </p:custDataLst>
          </p:nvPr>
        </p:nvSpPr>
        <p:spPr>
          <a:xfrm>
            <a:off x="694080" y="4754487"/>
            <a:ext cx="2432106" cy="246221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1600" dirty="0">
                <a:solidFill>
                  <a:srgbClr val="202632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  <a:sym typeface="黑体" panose="02010609060101010101" charset="-122"/>
              </a:rPr>
              <a:t>经济与资源</a:t>
            </a:r>
            <a:endParaRPr lang="en-US" altLang="zh-CN" sz="1600" dirty="0">
              <a:solidFill>
                <a:srgbClr val="202632"/>
              </a:solidFill>
              <a:latin typeface="MiSans VF Demibold" pitchFamily="2" charset="-122"/>
              <a:ea typeface="MiSans VF Demibold" pitchFamily="2" charset="-122"/>
              <a:cs typeface="MiSans VF Demibold" pitchFamily="2" charset="-122"/>
              <a:sym typeface="黑体" panose="02010609060101010101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7"/>
            </p:custDataLst>
          </p:nvPr>
        </p:nvSpPr>
        <p:spPr>
          <a:xfrm>
            <a:off x="694080" y="5115367"/>
            <a:ext cx="2432107" cy="64579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可行：开源工具为主，除可选域名与证书外无必须支出，主要投入为成员时间</a:t>
            </a:r>
            <a:endParaRPr lang="zh-CN" altLang="en-US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26" name="AutoShape 5"/>
          <p:cNvSpPr/>
          <p:nvPr>
            <p:custDataLst>
              <p:tags r:id="rId8"/>
            </p:custDataLst>
          </p:nvPr>
        </p:nvSpPr>
        <p:spPr>
          <a:xfrm>
            <a:off x="3509199" y="4754487"/>
            <a:ext cx="2432106" cy="246221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1600" dirty="0">
                <a:solidFill>
                  <a:srgbClr val="202632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  <a:sym typeface="黑体" panose="02010609060101010101" charset="-122"/>
              </a:rPr>
              <a:t>操作与使用</a:t>
            </a:r>
            <a:endParaRPr lang="en-US" altLang="zh-CN" sz="1600" dirty="0">
              <a:solidFill>
                <a:srgbClr val="202632"/>
              </a:solidFill>
              <a:latin typeface="MiSans VF Demibold" pitchFamily="2" charset="-122"/>
              <a:ea typeface="MiSans VF Demibold" pitchFamily="2" charset="-122"/>
              <a:cs typeface="MiSans VF Demibold" pitchFamily="2" charset="-122"/>
              <a:sym typeface="黑体" panose="02010609060101010101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9"/>
            </p:custDataLst>
          </p:nvPr>
        </p:nvSpPr>
        <p:spPr>
          <a:xfrm>
            <a:off x="3509199" y="5115367"/>
            <a:ext cx="2432107" cy="64579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可行：一键分析不重复输入，管理员维护动作库与公共食物库路径明</a:t>
            </a: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确</a:t>
            </a: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29" name="AutoShape 2"/>
          <p:cNvSpPr/>
          <p:nvPr>
            <p:custDataLst>
              <p:tags r:id="rId10"/>
            </p:custDataLst>
          </p:nvPr>
        </p:nvSpPr>
        <p:spPr>
          <a:xfrm>
            <a:off x="3509199" y="2295779"/>
            <a:ext cx="2363139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zh-CN" sz="4000" b="1" i="1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02</a:t>
            </a:r>
            <a:endParaRPr lang="en-US" altLang="zh-CN" sz="4000" b="1" i="1" dirty="0">
              <a:solidFill>
                <a:srgbClr val="202632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ChillYunmoGothicBold"/>
            </a:endParaRPr>
          </a:p>
        </p:txBody>
      </p:sp>
      <p:sp>
        <p:nvSpPr>
          <p:cNvPr id="31" name="AutoShape 5"/>
          <p:cNvSpPr/>
          <p:nvPr>
            <p:custDataLst>
              <p:tags r:id="rId11"/>
            </p:custDataLst>
          </p:nvPr>
        </p:nvSpPr>
        <p:spPr>
          <a:xfrm>
            <a:off x="6316793" y="4754487"/>
            <a:ext cx="2432106" cy="246221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1600" dirty="0">
                <a:solidFill>
                  <a:srgbClr val="EDF7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  <a:sym typeface="黑体" panose="02010609060101010101" charset="-122"/>
              </a:rPr>
              <a:t>法律与伦理</a:t>
            </a:r>
            <a:endParaRPr lang="en-US" altLang="zh-CN" sz="1600" dirty="0">
              <a:solidFill>
                <a:srgbClr val="EDF7FF"/>
              </a:solidFill>
              <a:latin typeface="MiSans VF Demibold" pitchFamily="2" charset="-122"/>
              <a:ea typeface="MiSans VF Demibold" pitchFamily="2" charset="-122"/>
              <a:cs typeface="MiSans VF Demibold" pitchFamily="2" charset="-122"/>
              <a:sym typeface="黑体" panose="02010609060101010101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12"/>
            </p:custDataLst>
          </p:nvPr>
        </p:nvSpPr>
        <p:spPr>
          <a:xfrm>
            <a:off x="6316793" y="5115367"/>
            <a:ext cx="2432107" cy="64579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dirty="0">
                <a:solidFill>
                  <a:srgbClr val="EDF7FF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可行须落实：最小化收集、授权可撤回、报告可删除、HTTPS 传输</a:t>
            </a:r>
            <a:endParaRPr lang="zh-CN" altLang="en-US" dirty="0">
              <a:solidFill>
                <a:srgbClr val="EDF7FF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33" name="AutoShape 2"/>
          <p:cNvSpPr/>
          <p:nvPr>
            <p:custDataLst>
              <p:tags r:id="rId13"/>
            </p:custDataLst>
          </p:nvPr>
        </p:nvSpPr>
        <p:spPr>
          <a:xfrm>
            <a:off x="6316793" y="2295779"/>
            <a:ext cx="2363139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zh-CN" sz="4000" b="1" i="1" dirty="0">
                <a:solidFill>
                  <a:srgbClr val="EDF7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03</a:t>
            </a:r>
            <a:endParaRPr lang="en-US" altLang="zh-CN" sz="4000" b="1" i="1" dirty="0">
              <a:solidFill>
                <a:srgbClr val="EDF7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ChillYunmoGothicBold"/>
            </a:endParaRPr>
          </a:p>
        </p:txBody>
      </p:sp>
      <p:sp>
        <p:nvSpPr>
          <p:cNvPr id="34" name="AutoShape 5"/>
          <p:cNvSpPr/>
          <p:nvPr>
            <p:custDataLst>
              <p:tags r:id="rId14"/>
            </p:custDataLst>
          </p:nvPr>
        </p:nvSpPr>
        <p:spPr>
          <a:xfrm>
            <a:off x="9137266" y="4754487"/>
            <a:ext cx="2432106" cy="246221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1600" dirty="0">
                <a:solidFill>
                  <a:srgbClr val="EDF7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  <a:sym typeface="黑体" panose="02010609060101010101" charset="-122"/>
              </a:rPr>
              <a:t>进度</a:t>
            </a:r>
            <a:endParaRPr lang="en-US" altLang="zh-CN" sz="1600" dirty="0">
              <a:solidFill>
                <a:srgbClr val="EDF7FF"/>
              </a:solidFill>
              <a:latin typeface="MiSans VF Demibold" pitchFamily="2" charset="-122"/>
              <a:ea typeface="MiSans VF Demibold" pitchFamily="2" charset="-122"/>
              <a:cs typeface="MiSans VF Demibold" pitchFamily="2" charset="-122"/>
              <a:sym typeface="黑体" panose="02010609060101010101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15"/>
            </p:custDataLst>
          </p:nvPr>
        </p:nvSpPr>
        <p:spPr>
          <a:xfrm>
            <a:off x="9137266" y="5115367"/>
            <a:ext cx="2432107" cy="430530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dirty="0">
                <a:solidFill>
                  <a:srgbClr val="EDF7FF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有条件可行：关键路径清晰但工时无冗余，末段里程碑密集</a:t>
            </a:r>
            <a:endParaRPr lang="zh-CN" altLang="en-US" dirty="0">
              <a:solidFill>
                <a:srgbClr val="EDF7FF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36" name="AutoShape 2"/>
          <p:cNvSpPr/>
          <p:nvPr>
            <p:custDataLst>
              <p:tags r:id="rId16"/>
            </p:custDataLst>
          </p:nvPr>
        </p:nvSpPr>
        <p:spPr>
          <a:xfrm>
            <a:off x="9137266" y="2295779"/>
            <a:ext cx="2363139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zh-CN" sz="4000" b="1" i="1" dirty="0">
                <a:solidFill>
                  <a:srgbClr val="EDF7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04</a:t>
            </a:r>
            <a:endParaRPr lang="en-US" altLang="zh-CN" sz="4000" b="1" i="1" dirty="0">
              <a:solidFill>
                <a:srgbClr val="EDF7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ChillYunmoGothic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FITNESS APP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G13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RISK &amp; CONCLUSION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24798" y="1206344"/>
            <a:ext cx="8970075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风险分析与结论</a:t>
            </a:r>
            <a:endParaRPr lang="en-US" altLang="zh-CN" sz="4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cxnSp>
        <p:nvCxnSpPr>
          <p:cNvPr id="10" name="直线连接符 9"/>
          <p:cNvCxnSpPr/>
          <p:nvPr/>
        </p:nvCxnSpPr>
        <p:spPr>
          <a:xfrm>
            <a:off x="524799" y="2161018"/>
            <a:ext cx="11208485" cy="0"/>
          </a:xfrm>
          <a:prstGeom prst="line">
            <a:avLst/>
          </a:prstGeom>
          <a:ln>
            <a:solidFill>
              <a:srgbClr val="202632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/>
          <p:cNvCxnSpPr/>
          <p:nvPr/>
        </p:nvCxnSpPr>
        <p:spPr>
          <a:xfrm>
            <a:off x="6095999" y="2161018"/>
            <a:ext cx="0" cy="3724494"/>
          </a:xfrm>
          <a:prstGeom prst="line">
            <a:avLst/>
          </a:prstGeom>
          <a:ln>
            <a:solidFill>
              <a:srgbClr val="202632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utoShape 5"/>
          <p:cNvSpPr/>
          <p:nvPr/>
        </p:nvSpPr>
        <p:spPr>
          <a:xfrm>
            <a:off x="524799" y="2532397"/>
            <a:ext cx="4495436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01 主要风险与应对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11" name="AutoShape 5"/>
          <p:cNvSpPr/>
          <p:nvPr/>
        </p:nvSpPr>
        <p:spPr>
          <a:xfrm>
            <a:off x="6528693" y="2532397"/>
            <a:ext cx="4495436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02 结论与附加条件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4510" y="3211830"/>
            <a:ext cx="5377815" cy="2123440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高风险四项：模型推理超时、打包环境、两人四岗冲突、统计与输出不一致</a:t>
            </a:r>
            <a:endParaRPr lang="en-US" altLang="zh-CN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应对方式：前置验证、降级兜底、专项验收三层措施</a:t>
            </a:r>
            <a:endParaRPr lang="zh-CN" altLang="en-US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中风险三项：后端为关键路径且负荷集中、食物库录入量、需求蔓延</a:t>
            </a:r>
            <a:endParaRPr lang="en-US" altLang="zh-CN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残余风险总体可控，不构成对项目可行性的实质障碍</a:t>
            </a:r>
            <a:endParaRPr lang="zh-CN" altLang="en-US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528694" y="3211552"/>
            <a:ext cx="5138506" cy="2400300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综合结论：项目可行，建议按开发计划书启动执行</a:t>
            </a:r>
            <a:endParaRPr lang="en-US" altLang="zh-CN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附加条件：冻结范围，新增需求须评估顺延安排与责任人</a:t>
            </a:r>
            <a:endParaRPr lang="zh-CN" altLang="en-US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两项前置验证：第 7 周模型接入、第 8 周 Android 空壳包</a:t>
            </a:r>
            <a:endParaRPr lang="zh-CN" altLang="en-US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AI 分析先算后解释，第 10 周缓冲专款专用不追加功能</a:t>
            </a:r>
            <a:endParaRPr lang="zh-CN" altLang="en-US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FITNESS APP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G13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PLAN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24799" y="1206344"/>
            <a:ext cx="9395378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12周进度安排</a:t>
            </a:r>
            <a:endParaRPr lang="en-US" altLang="zh-CN" sz="4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4510" y="2691130"/>
            <a:ext cx="4226560" cy="325310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周期：2026年9月28日至12月20日，共12周，设7个里程碑</a:t>
            </a:r>
            <a:endParaRPr lang="en-US" altLang="zh-CN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需求准备2周，后端与数据3周，前端与图表3周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AI分析与移动端4周，测试与结项3周，阶段间并行推进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10月11日需求冻结，12月6日交付Android安装包，12月20日结项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graphicFrame>
        <p:nvGraphicFramePr>
          <p:cNvPr id="6" name="159"/>
          <p:cNvGraphicFramePr/>
          <p:nvPr/>
        </p:nvGraphicFramePr>
        <p:xfrm>
          <a:off x="4751070" y="2025015"/>
          <a:ext cx="7145655" cy="44113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7843520" y="1"/>
            <a:ext cx="4348478" cy="2091765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FITNESS APP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F7FAFF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F7FAFF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G13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6" name="AutoShape 5"/>
          <p:cNvSpPr/>
          <p:nvPr/>
        </p:nvSpPr>
        <p:spPr>
          <a:xfrm>
            <a:off x="524799" y="1206344"/>
            <a:ext cx="4495436" cy="1231106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工程网络图（AON）</a:t>
            </a:r>
            <a:endParaRPr lang="en-US" altLang="zh-CN" sz="4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  <a:p>
            <a:pPr>
              <a:defRPr/>
            </a:pPr>
            <a:endParaRPr lang="en-US" altLang="zh-CN" sz="4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24510" y="2437130"/>
            <a:ext cx="4495800" cy="472376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七项活动：需求冻结、后端核心、前端图表、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en-US" altLang="zh-CN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AI </a:t>
            </a: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分析、移动封装、测试验收、结项答辩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关键路径 </a:t>
            </a:r>
            <a:r>
              <a:rPr lang="en-US" altLang="zh-CN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A→B→C→D→F→G </a:t>
            </a: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共 12 周，六项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关键活动总浮动均为 0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非关键活动 </a:t>
            </a:r>
            <a:r>
              <a:rPr lang="en-US" altLang="zh-CN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E </a:t>
            </a: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移动端封装 </a:t>
            </a:r>
            <a:r>
              <a:rPr lang="en-US" altLang="zh-CN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TF = 1 </a:t>
            </a: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周，最早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可 </a:t>
            </a:r>
            <a:r>
              <a:rPr lang="en-US" altLang="zh-CN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W7 </a:t>
            </a: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启动、计划 </a:t>
            </a:r>
            <a:r>
              <a:rPr lang="en-US" altLang="zh-CN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W8 </a:t>
            </a: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启动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搭接：</a:t>
            </a:r>
            <a:r>
              <a:rPr lang="en-US" altLang="zh-CN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A→B、B→C、E→F、F→G </a:t>
            </a: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各搭接 1 周，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前序未结束即启动后序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817507" y="1206343"/>
            <a:ext cx="19157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sz="1400" b="1" i="1" dirty="0">
                <a:solidFill>
                  <a:srgbClr val="F7FA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NETWORK</a:t>
            </a:r>
            <a:endParaRPr lang="en-US" altLang="zh-CN" sz="1400" b="1" i="1" u="none" strike="noStrike" dirty="0">
              <a:solidFill>
                <a:srgbClr val="F7FA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pic>
        <p:nvPicPr>
          <p:cNvPr id="11" name="图片 10" descr="f1b8b8af3d82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5755" y="0"/>
            <a:ext cx="54730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FITNESS APP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G13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GANTT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24798" y="1206344"/>
            <a:ext cx="8810587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12 周甘特图</a:t>
            </a:r>
            <a:endParaRPr lang="en-US" altLang="zh-CN" sz="4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cxnSp>
        <p:nvCxnSpPr>
          <p:cNvPr id="10" name="直线连接符 9"/>
          <p:cNvCxnSpPr/>
          <p:nvPr/>
        </p:nvCxnSpPr>
        <p:spPr>
          <a:xfrm>
            <a:off x="524799" y="2161018"/>
            <a:ext cx="11208485" cy="0"/>
          </a:xfrm>
          <a:prstGeom prst="line">
            <a:avLst/>
          </a:prstGeom>
          <a:ln>
            <a:solidFill>
              <a:srgbClr val="202632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/>
          <p:cNvCxnSpPr/>
          <p:nvPr/>
        </p:nvCxnSpPr>
        <p:spPr>
          <a:xfrm>
            <a:off x="6095999" y="2161018"/>
            <a:ext cx="0" cy="3724494"/>
          </a:xfrm>
          <a:prstGeom prst="line">
            <a:avLst/>
          </a:prstGeom>
          <a:ln>
            <a:solidFill>
              <a:srgbClr val="202632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utoShape 5"/>
          <p:cNvSpPr/>
          <p:nvPr/>
        </p:nvSpPr>
        <p:spPr>
          <a:xfrm>
            <a:off x="524799" y="2532397"/>
            <a:ext cx="4495436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关键路径 12 周 · 无浮动时间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4798" y="3211552"/>
            <a:ext cx="5115516" cy="193865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周期：2026年9月28日至12月20日，共12周，设7个里程碑</a:t>
            </a:r>
            <a:endParaRPr lang="en-US" altLang="zh-CN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需求准备2周、后端与数据3周、前端与图表3周、AI与移动端4周、测试结项3周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阶段间并行推进，第10周设为缓冲，用于打包与缺陷回归</a:t>
            </a:r>
            <a:endParaRPr lang="en-US" altLang="zh-CN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10月11日需求冻结，12月6日交付Android安装包，12月20日结项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3" r="3333"/>
          <a:stretch>
            <a:fillRect/>
          </a:stretch>
        </p:blipFill>
        <p:spPr>
          <a:xfrm>
            <a:off x="5640070" y="2235835"/>
            <a:ext cx="6322695" cy="42087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FITNESS APP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G13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6" name="AutoShape 5"/>
          <p:cNvSpPr/>
          <p:nvPr/>
        </p:nvSpPr>
        <p:spPr>
          <a:xfrm>
            <a:off x="524799" y="1206344"/>
            <a:ext cx="4495436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里程碑与进度保障</a:t>
            </a:r>
            <a:endParaRPr lang="en-US" altLang="zh-CN" sz="4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6915948" y="2285839"/>
            <a:ext cx="3529043" cy="1921967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文本框 14"/>
          <p:cNvSpPr txBox="1"/>
          <p:nvPr>
            <p:custDataLst>
              <p:tags r:id="rId2"/>
            </p:custDataLst>
          </p:nvPr>
        </p:nvSpPr>
        <p:spPr>
          <a:xfrm>
            <a:off x="524510" y="4519930"/>
            <a:ext cx="4370705" cy="17754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M1 10月11日需求冻结，M3 11月15日前后端联调完成</a:t>
            </a:r>
            <a:endParaRPr lang="en-US" altLang="zh-CN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M4 11月29日 AI 分析可用，M6 12月6日交付 Android 安装包</a:t>
            </a:r>
            <a:endParaRPr lang="zh-CN" altLang="en-US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M7 12月20日结项答辩，缺陷清零与文档归档同步完成</a:t>
            </a:r>
            <a:endParaRPr lang="zh-CN" altLang="en-US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817507" y="1206343"/>
            <a:ext cx="19157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sz="1400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MILESTONES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sp>
        <p:nvSpPr>
          <p:cNvPr id="18" name="矩形 17"/>
          <p:cNvSpPr/>
          <p:nvPr>
            <p:custDataLst>
              <p:tags r:id="rId3"/>
            </p:custDataLst>
          </p:nvPr>
        </p:nvSpPr>
        <p:spPr>
          <a:xfrm>
            <a:off x="1366171" y="2302349"/>
            <a:ext cx="3529043" cy="19219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1" name="文本框 20"/>
          <p:cNvSpPr txBox="1"/>
          <p:nvPr>
            <p:custDataLst>
              <p:tags r:id="rId4"/>
            </p:custDataLst>
          </p:nvPr>
        </p:nvSpPr>
        <p:spPr>
          <a:xfrm>
            <a:off x="1474612" y="3078143"/>
            <a:ext cx="3108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000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里程碑节点</a:t>
            </a:r>
            <a:endParaRPr lang="en-US" altLang="zh-CN" sz="2000" u="none" strike="noStrike" dirty="0">
              <a:solidFill>
                <a:srgbClr val="202632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5"/>
            </p:custDataLst>
          </p:nvPr>
        </p:nvSpPr>
        <p:spPr>
          <a:xfrm>
            <a:off x="7165029" y="3077508"/>
            <a:ext cx="30305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000" dirty="0">
                <a:solidFill>
                  <a:schemeClr val="bg1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进度保障措施</a:t>
            </a:r>
            <a:endParaRPr lang="en-US" altLang="zh-CN" sz="2000" u="none" strike="noStrike" dirty="0">
              <a:solidFill>
                <a:schemeClr val="bg1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6"/>
            </p:custDataLst>
          </p:nvPr>
        </p:nvSpPr>
        <p:spPr>
          <a:xfrm>
            <a:off x="6219190" y="4519930"/>
            <a:ext cx="5010785" cy="151320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范围冻结：iOS 适配、图片识别、穿戴设备不进入本次 12 周范围</a:t>
            </a:r>
            <a:endParaRPr lang="zh-CN" altLang="en-US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接口先行：W2 定稿接口文档，前端按文档并行开发与联调</a:t>
            </a:r>
            <a:endParaRPr lang="zh-CN" altLang="en-US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测试左移：第 3 周起同步登记缺陷，验收前清空阻塞级与严重级</a:t>
            </a:r>
            <a:endParaRPr lang="zh-CN" altLang="en-US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缓冲专用：第 10 周优先用于打包与回归，不用于追加新功能</a:t>
            </a:r>
            <a:endParaRPr lang="zh-CN" altLang="en-US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FITNESS APP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G13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REFERENCE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24798" y="1206344"/>
            <a:ext cx="8057407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参考资料</a:t>
            </a:r>
            <a:endParaRPr lang="en-US" altLang="zh-CN" sz="4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cxnSp>
        <p:nvCxnSpPr>
          <p:cNvPr id="10" name="直线连接符 9"/>
          <p:cNvCxnSpPr/>
          <p:nvPr/>
        </p:nvCxnSpPr>
        <p:spPr>
          <a:xfrm>
            <a:off x="524799" y="2161018"/>
            <a:ext cx="11208485" cy="0"/>
          </a:xfrm>
          <a:prstGeom prst="line">
            <a:avLst/>
          </a:prstGeom>
          <a:ln>
            <a:solidFill>
              <a:srgbClr val="48536B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14208" y="3519328"/>
            <a:ext cx="2788738" cy="101536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Spring Boot官方文档用于后端设计；Vue3中文文档简介用于前端实现。</a:t>
            </a:r>
            <a:endParaRPr lang="en-US" altLang="zh-CN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MySQL 8.4参考手册用于数据库设计；Apache ECharts手册用于图表展示。</a:t>
            </a:r>
            <a:endParaRPr lang="zh-CN" altLang="en-US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cxnSp>
        <p:nvCxnSpPr>
          <p:cNvPr id="13" name="直线连接符 12"/>
          <p:cNvCxnSpPr/>
          <p:nvPr/>
        </p:nvCxnSpPr>
        <p:spPr>
          <a:xfrm>
            <a:off x="4270690" y="2161018"/>
            <a:ext cx="0" cy="3724494"/>
          </a:xfrm>
          <a:prstGeom prst="line">
            <a:avLst/>
          </a:prstGeom>
          <a:ln>
            <a:solidFill>
              <a:srgbClr val="48536B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/>
          <p:cNvCxnSpPr/>
          <p:nvPr/>
        </p:nvCxnSpPr>
        <p:spPr>
          <a:xfrm>
            <a:off x="7998800" y="2161018"/>
            <a:ext cx="0" cy="3724494"/>
          </a:xfrm>
          <a:prstGeom prst="line">
            <a:avLst/>
          </a:prstGeom>
          <a:ln>
            <a:solidFill>
              <a:srgbClr val="48536B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4740375" y="3519328"/>
            <a:ext cx="2788738" cy="138493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Capacitor官方文档用于Android封装与移动端构建。</a:t>
            </a:r>
            <a:endParaRPr lang="en-US" altLang="zh-CN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Android SDK与Capacitor CLI用于打包、安装与真机调试。</a:t>
            </a:r>
            <a:endParaRPr lang="en-US" altLang="zh-CN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endParaRPr lang="en-US" altLang="zh-CN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633128" y="3519328"/>
            <a:ext cx="2788738" cy="138493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Qwen3-4B-Instruct-2507模型卡用于选型与Apache-2.0许可核对。</a:t>
            </a:r>
            <a:endParaRPr lang="en-US" altLang="zh-CN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Ollama Chat API文档用于服务端模型接口调用。</a:t>
            </a:r>
            <a:endParaRPr lang="en-US" altLang="zh-CN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endParaRPr lang="en-US" altLang="zh-CN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6" name="AutoShape 5"/>
          <p:cNvSpPr/>
          <p:nvPr/>
        </p:nvSpPr>
        <p:spPr>
          <a:xfrm>
            <a:off x="514213" y="2840173"/>
            <a:ext cx="2788733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技术方案 [1]—[4]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15" name="AutoShape 5"/>
          <p:cNvSpPr/>
          <p:nvPr/>
        </p:nvSpPr>
        <p:spPr>
          <a:xfrm>
            <a:off x="524797" y="2532397"/>
            <a:ext cx="2788733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0A84FF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01</a:t>
            </a:r>
            <a:endParaRPr lang="en-US" altLang="zh-CN" sz="2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16" name="AutoShape 5"/>
          <p:cNvSpPr/>
          <p:nvPr/>
        </p:nvSpPr>
        <p:spPr>
          <a:xfrm>
            <a:off x="4741657" y="2840173"/>
            <a:ext cx="2788733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移动封装 [5]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18" name="AutoShape 5"/>
          <p:cNvSpPr/>
          <p:nvPr/>
        </p:nvSpPr>
        <p:spPr>
          <a:xfrm>
            <a:off x="4752241" y="2532397"/>
            <a:ext cx="2788733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0A84FF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02</a:t>
            </a:r>
            <a:endParaRPr lang="en-US" altLang="zh-CN" sz="2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22" name="AutoShape 5"/>
          <p:cNvSpPr/>
          <p:nvPr/>
        </p:nvSpPr>
        <p:spPr>
          <a:xfrm>
            <a:off x="8633128" y="2840173"/>
            <a:ext cx="2788733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模型与接口 [6][7]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23" name="AutoShape 5"/>
          <p:cNvSpPr/>
          <p:nvPr/>
        </p:nvSpPr>
        <p:spPr>
          <a:xfrm>
            <a:off x="8643712" y="2532397"/>
            <a:ext cx="2788733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0A84FF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03</a:t>
            </a:r>
            <a:endParaRPr lang="en-US" altLang="zh-CN" sz="2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02920" y="4968240"/>
            <a:ext cx="10918825" cy="1631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后端与前端：</a:t>
            </a:r>
            <a:r>
              <a:rPr lang="en-US" altLang="zh-CN" sz="160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</a:rPr>
              <a:t>docs.spring.io/spring-boot/index.html、cn.vuejs.org/guide/introduction</a:t>
            </a:r>
            <a:endParaRPr lang="en-US" altLang="zh-CN" sz="1600"/>
          </a:p>
          <a:p>
            <a:endParaRPr lang="en-US" altLang="zh-CN" sz="1600"/>
          </a:p>
          <a:p>
            <a:r>
              <a:rPr lang="zh-CN" altLang="en-US" sz="1600"/>
              <a:t>数据库与图表：</a:t>
            </a:r>
            <a:r>
              <a:rPr lang="en-US" altLang="zh-CN" sz="160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</a:rPr>
              <a:t>dev.mysql.com/doc/refman/8.4/en/、echarts.apache.org/handbook/en/get-started/</a:t>
            </a:r>
            <a:endParaRPr lang="en-US" altLang="zh-CN" sz="160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endParaRPr lang="en-US" altLang="zh-CN" sz="1600"/>
          </a:p>
          <a:p>
            <a:r>
              <a:rPr lang="zh-CN" altLang="en-US" sz="1600"/>
              <a:t>移动端与模型：</a:t>
            </a:r>
            <a:r>
              <a:rPr lang="en-US" altLang="zh-CN" sz="160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</a:rPr>
              <a:t>capacitorjs.com/docs、huggingface.co/Qwen/Qwen3-4B-Instruct-2507、docs.ollama.com/api/chat</a:t>
            </a:r>
            <a:endParaRPr lang="en-US" altLang="zh-CN" sz="160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组合 72"/>
          <p:cNvGrpSpPr/>
          <p:nvPr/>
        </p:nvGrpSpPr>
        <p:grpSpPr>
          <a:xfrm>
            <a:off x="-237883" y="-1280369"/>
            <a:ext cx="12667766" cy="9418738"/>
            <a:chOff x="-239398" y="-1280369"/>
            <a:chExt cx="12667766" cy="9418738"/>
          </a:xfrm>
        </p:grpSpPr>
        <p:cxnSp>
          <p:nvCxnSpPr>
            <p:cNvPr id="33" name="直线连接符 32"/>
            <p:cNvCxnSpPr/>
            <p:nvPr/>
          </p:nvCxnSpPr>
          <p:spPr>
            <a:xfrm>
              <a:off x="11945342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线连接符 36"/>
            <p:cNvCxnSpPr/>
            <p:nvPr/>
          </p:nvCxnSpPr>
          <p:spPr>
            <a:xfrm>
              <a:off x="243628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线连接符 37"/>
            <p:cNvCxnSpPr/>
            <p:nvPr/>
          </p:nvCxnSpPr>
          <p:spPr>
            <a:xfrm>
              <a:off x="524797" y="385358"/>
              <a:ext cx="0" cy="60829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线连接符 38"/>
            <p:cNvCxnSpPr/>
            <p:nvPr/>
          </p:nvCxnSpPr>
          <p:spPr>
            <a:xfrm flipH="1">
              <a:off x="-213761" y="6442064"/>
              <a:ext cx="12642129" cy="26232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线连接符 39"/>
            <p:cNvCxnSpPr/>
            <p:nvPr/>
          </p:nvCxnSpPr>
          <p:spPr>
            <a:xfrm flipH="1">
              <a:off x="-239398" y="359072"/>
              <a:ext cx="12667766" cy="26286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线连接符 60"/>
            <p:cNvCxnSpPr/>
            <p:nvPr/>
          </p:nvCxnSpPr>
          <p:spPr>
            <a:xfrm>
              <a:off x="6074941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线连接符 69"/>
            <p:cNvCxnSpPr/>
            <p:nvPr/>
          </p:nvCxnSpPr>
          <p:spPr>
            <a:xfrm>
              <a:off x="11733284" y="359233"/>
              <a:ext cx="0" cy="60829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线连接符 71"/>
            <p:cNvCxnSpPr/>
            <p:nvPr/>
          </p:nvCxnSpPr>
          <p:spPr>
            <a:xfrm flipH="1">
              <a:off x="-239398" y="3426122"/>
              <a:ext cx="12667766" cy="26286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0A84FF"/>
                  </a:solidFill>
                  <a:latin typeface="MiSans VF Demibold" pitchFamily="2" charset="-122"/>
                  <a:ea typeface="MiSans VF Demibold" pitchFamily="2" charset="-122"/>
                  <a:cs typeface="MiSans VF Demibold" pitchFamily="2" charset="-122"/>
                  <a:sym typeface="JetBrains Mono"/>
                </a:rPr>
                <a:t>FITNESS APP</a:t>
              </a:r>
              <a:endParaRPr lang="en-US" sz="800" dirty="0">
                <a:solidFill>
                  <a:srgbClr val="0A84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0A84FF"/>
                  </a:solidFill>
                  <a:latin typeface="MiSans VF Demibold" pitchFamily="2" charset="-122"/>
                  <a:ea typeface="MiSans VF Demibold" pitchFamily="2" charset="-122"/>
                  <a:cs typeface="MiSans VF Demibold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0A84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</a:endParaRPr>
            </a:p>
          </p:txBody>
        </p:sp>
        <p:sp>
          <p:nvSpPr>
            <p:cNvPr id="5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0A84FF"/>
                  </a:solidFill>
                  <a:latin typeface="MiSans VF Demibold" pitchFamily="2" charset="-122"/>
                  <a:ea typeface="MiSans VF Demibold" pitchFamily="2" charset="-122"/>
                  <a:cs typeface="MiSans VF Demibold" pitchFamily="2" charset="-122"/>
                  <a:sym typeface="JetBrains Mono"/>
                </a:rPr>
                <a:t>COVER</a:t>
              </a:r>
              <a:endParaRPr lang="en-US" sz="800" dirty="0">
                <a:solidFill>
                  <a:srgbClr val="0A84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</a:endParaRPr>
            </a:p>
          </p:txBody>
        </p:sp>
      </p:grpSp>
      <p:sp>
        <p:nvSpPr>
          <p:cNvPr id="6" name="AutoShape 2"/>
          <p:cNvSpPr/>
          <p:nvPr/>
        </p:nvSpPr>
        <p:spPr>
          <a:xfrm>
            <a:off x="524799" y="4620850"/>
            <a:ext cx="11208481" cy="89768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pPr>
              <a:lnSpc>
                <a:spcPts val="7000"/>
              </a:lnSpc>
              <a:defRPr/>
            </a:pPr>
            <a:r>
              <a:rPr lang="zh-CN" altLang="en-US" sz="6200" b="1" dirty="0">
                <a:solidFill>
                  <a:srgbClr val="0A84FF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ChillYunmoGothicBold"/>
              </a:rPr>
              <a:t>感谢聆听</a:t>
            </a:r>
            <a:endParaRPr lang="en-US" altLang="zh-CN" sz="62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</a:endParaRPr>
          </a:p>
        </p:txBody>
      </p:sp>
      <p:sp>
        <p:nvSpPr>
          <p:cNvPr id="7" name="AutoShape 2"/>
          <p:cNvSpPr/>
          <p:nvPr/>
        </p:nvSpPr>
        <p:spPr>
          <a:xfrm>
            <a:off x="524799" y="5532387"/>
            <a:ext cx="11208481" cy="89768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pPr>
              <a:lnSpc>
                <a:spcPts val="7000"/>
              </a:lnSpc>
              <a:defRPr/>
            </a:pPr>
            <a:r>
              <a:rPr lang="en-US" altLang="zh-CN" sz="6200" b="1" i="1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THANKS FOR WATCHING</a:t>
            </a:r>
            <a:endParaRPr lang="en-US" altLang="zh-CN" sz="6200" b="1" i="1" dirty="0">
              <a:solidFill>
                <a:srgbClr val="202632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ChillYunmoGothic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FITNESS APP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G13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TEAM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24798" y="1206344"/>
            <a:ext cx="8970075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小组成员分工及评价</a:t>
            </a:r>
            <a:endParaRPr lang="en-US" altLang="zh-CN" sz="4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cxnSp>
        <p:nvCxnSpPr>
          <p:cNvPr id="10" name="直线连接符 9"/>
          <p:cNvCxnSpPr/>
          <p:nvPr/>
        </p:nvCxnSpPr>
        <p:spPr>
          <a:xfrm>
            <a:off x="524799" y="2161018"/>
            <a:ext cx="11208485" cy="0"/>
          </a:xfrm>
          <a:prstGeom prst="line">
            <a:avLst/>
          </a:prstGeom>
          <a:ln>
            <a:solidFill>
              <a:srgbClr val="202632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/>
          <p:cNvCxnSpPr/>
          <p:nvPr/>
        </p:nvCxnSpPr>
        <p:spPr>
          <a:xfrm>
            <a:off x="6095999" y="2161018"/>
            <a:ext cx="0" cy="3724494"/>
          </a:xfrm>
          <a:prstGeom prst="line">
            <a:avLst/>
          </a:prstGeom>
          <a:ln>
            <a:solidFill>
              <a:srgbClr val="202632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utoShape 5"/>
          <p:cNvSpPr/>
          <p:nvPr/>
        </p:nvSpPr>
        <p:spPr>
          <a:xfrm>
            <a:off x="524799" y="2532397"/>
            <a:ext cx="4495436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01 成员与分工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11" name="AutoShape 5"/>
          <p:cNvSpPr/>
          <p:nvPr/>
        </p:nvSpPr>
        <p:spPr>
          <a:xfrm>
            <a:off x="6528693" y="2532397"/>
            <a:ext cx="4495436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02 综合评价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4798" y="3211552"/>
            <a:ext cx="5115516" cy="243141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方文锦：需求与项目统筹、后端与数据库，负责需求、建表、接口、业务规则及权限</a:t>
            </a:r>
            <a:endParaRPr lang="en-US" altLang="zh-CN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方文锦：制作甘特图与工程网络图，进行主要可行性分析，占主要地位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陈智杰：前端与交互、测试与文档，负责页面、图表、用例、缺陷复测与部署</a:t>
            </a:r>
            <a:endParaRPr lang="en-US" altLang="zh-CN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陈智杰：校验可行性分析结果，查询资料并提出可能的技术问题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528435" y="3211830"/>
            <a:ext cx="5080635" cy="2465705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两人各承担两个岗位，覆盖需求、开发、测试与文档全链路，职责无空白</a:t>
            </a:r>
            <a:endParaRPr lang="en-US" altLang="zh-CN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可行性分析部分由方文锦主导分析与绘图，占主要地位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陈智杰负责校验分析结果、查询资料并提出技术问题，形成交叉复核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甘特图与工程网络图由方文锦制作，陈智杰核对关键路径与工期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4.90590551181094,&quot;left&quot;:41.32251968503937,&quot;top&quot;:181.28732283464566,&quot;width&quot;:882.5581102362205}"/>
</p:tagLst>
</file>

<file path=ppt/tags/tag2.xml><?xml version="1.0" encoding="utf-8"?>
<p:tagLst xmlns:p="http://schemas.openxmlformats.org/presentationml/2006/main">
  <p:tag name="KSO_WM_DIAGRAM_VIRTUALLY_FRAME" val="{&quot;height&quot;:244.90590551181094,&quot;left&quot;:41.32251968503937,&quot;top&quot;:181.28732283464566,&quot;width&quot;:882.5581102362205}"/>
</p:tagLst>
</file>

<file path=ppt/tags/tag3.xml><?xml version="1.0" encoding="utf-8"?>
<p:tagLst xmlns:p="http://schemas.openxmlformats.org/presentationml/2006/main">
  <p:tag name="KSO_WM_DIAGRAM_VIRTUALLY_FRAME" val="{&quot;height&quot;:244.90590551181094,&quot;left&quot;:41.32251968503937,&quot;top&quot;:181.28732283464566,&quot;width&quot;:882.5581102362205}"/>
</p:tagLst>
</file>

<file path=ppt/tags/tag4.xml><?xml version="1.0" encoding="utf-8"?>
<p:tagLst xmlns:p="http://schemas.openxmlformats.org/presentationml/2006/main">
  <p:tag name="KSO_WM_DIAGRAM_VIRTUALLY_FRAME" val="{&quot;height&quot;:244.90590551181094,&quot;left&quot;:41.32251968503937,&quot;top&quot;:181.28732283464566,&quot;width&quot;:882.5581102362205}"/>
</p:tagLst>
</file>

<file path=ppt/tags/tag5.xml><?xml version="1.0" encoding="utf-8"?>
<p:tagLst xmlns:p="http://schemas.openxmlformats.org/presentationml/2006/main">
  <p:tag name="KSO_WM_DIAGRAM_VIRTUALLY_FRAME" val="{&quot;height&quot;:244.90590551181094,&quot;left&quot;:41.32251968503937,&quot;top&quot;:181.28732283464566,&quot;width&quot;:882.5581102362205}"/>
</p:tagLst>
</file>

<file path=ppt/tags/tag6.xml><?xml version="1.0" encoding="utf-8"?>
<p:tagLst xmlns:p="http://schemas.openxmlformats.org/presentationml/2006/main">
  <p:tag name="KSO_WM_DIAGRAM_VIRTUALLY_FRAME" val="{&quot;height&quot;:244.90590551181094,&quot;left&quot;:41.32251968503937,&quot;top&quot;:181.28732283464566,&quot;width&quot;:882.5581102362205}"/>
</p:tagLst>
</file>

<file path=ppt/tags/tag7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8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9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10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11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12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13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14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15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16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17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18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19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20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21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22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23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24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25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26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27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28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29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30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31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32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33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34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35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36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37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38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39.xml><?xml version="1.0" encoding="utf-8"?>
<p:tagLst xmlns:p="http://schemas.openxmlformats.org/presentationml/2006/main">
  <p:tag name="KSO_WM_DIAGRAM_VIRTUALLY_FRAME" val="{&quot;height&quot;:244.90590551181094,&quot;left&quot;:41.32251968503937,&quot;top&quot;:181.28732283464566,&quot;width&quot;:882.5581102362205}"/>
</p:tagLst>
</file>

<file path=ppt/tags/tag40.xml><?xml version="1.0" encoding="utf-8"?>
<p:tagLst xmlns:p="http://schemas.openxmlformats.org/presentationml/2006/main">
  <p:tag name="KSO_WM_DIAGRAM_VIRTUALLY_FRAME" val="{&quot;height&quot;:244.90590551181094,&quot;left&quot;:41.32251968503937,&quot;top&quot;:181.28732283464566,&quot;width&quot;:882.5581102362205}"/>
</p:tagLst>
</file>

<file path=ppt/tags/tag41.xml><?xml version="1.0" encoding="utf-8"?>
<p:tagLst xmlns:p="http://schemas.openxmlformats.org/presentationml/2006/main">
  <p:tag name="KSO_WM_DIAGRAM_VIRTUALLY_FRAME" val="{&quot;height&quot;:244.90590551181094,&quot;left&quot;:41.32251968503937,&quot;top&quot;:181.28732283464566,&quot;width&quot;:882.5581102362205}"/>
</p:tagLst>
</file>

<file path=ppt/tags/tag42.xml><?xml version="1.0" encoding="utf-8"?>
<p:tagLst xmlns:p="http://schemas.openxmlformats.org/presentationml/2006/main">
  <p:tag name="KSO_WM_DIAGRAM_VIRTUALLY_FRAME" val="{&quot;height&quot;:244.90590551181094,&quot;left&quot;:41.32251968503937,&quot;top&quot;:181.28732283464566,&quot;width&quot;:882.5581102362205}"/>
</p:tagLst>
</file>

<file path=ppt/tags/tag43.xml><?xml version="1.0" encoding="utf-8"?>
<p:tagLst xmlns:p="http://schemas.openxmlformats.org/presentationml/2006/main">
  <p:tag name="KSO_WM_DIAGRAM_VIRTUALLY_FRAME" val="{&quot;height&quot;:244.90590551181094,&quot;left&quot;:41.32251968503937,&quot;top&quot;:181.28732283464566,&quot;width&quot;:882.5581102362205}"/>
</p:tagLst>
</file>

<file path=ppt/tags/tag44.xml><?xml version="1.0" encoding="utf-8"?>
<p:tagLst xmlns:p="http://schemas.openxmlformats.org/presentationml/2006/main">
  <p:tag name="KSO_WM_DIAGRAM_VIRTUALLY_FRAME" val="{&quot;height&quot;:244.90590551181094,&quot;left&quot;:41.32251968503937,&quot;top&quot;:181.28732283464566,&quot;width&quot;:882.5581102362205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202632"/>
      </a:dk1>
      <a:lt1>
        <a:srgbClr val="FFFFFF"/>
      </a:lt1>
      <a:dk2>
        <a:srgbClr val="4A5568"/>
      </a:dk2>
      <a:lt2>
        <a:srgbClr val="E7EDF7"/>
      </a:lt2>
      <a:accent1>
        <a:srgbClr val="0A84FF"/>
      </a:accent1>
      <a:accent2>
        <a:srgbClr val="8F6BFF"/>
      </a:accent2>
      <a:accent3>
        <a:srgbClr val="AAB4C3"/>
      </a:accent3>
      <a:accent4>
        <a:srgbClr val="FFD166"/>
      </a:accent4>
      <a:accent5>
        <a:srgbClr val="25C2D9"/>
      </a:accent5>
      <a:accent6>
        <a:srgbClr val="4DD08F"/>
      </a:accent6>
      <a:hlink>
        <a:srgbClr val="2D5BFF"/>
      </a:hlink>
      <a:folHlink>
        <a:srgbClr val="8F6B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202632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202632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202632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202632"/>
      </a:dk1>
      <a:lt1>
        <a:srgbClr val="FFFFFF"/>
      </a:lt1>
      <a:dk2>
        <a:srgbClr val="4A5568"/>
      </a:dk2>
      <a:lt2>
        <a:srgbClr val="E7EDF7"/>
      </a:lt2>
      <a:accent1>
        <a:srgbClr val="0A84FF"/>
      </a:accent1>
      <a:accent2>
        <a:srgbClr val="8F6BFF"/>
      </a:accent2>
      <a:accent3>
        <a:srgbClr val="AAB4C3"/>
      </a:accent3>
      <a:accent4>
        <a:srgbClr val="FFD166"/>
      </a:accent4>
      <a:accent5>
        <a:srgbClr val="25C2D9"/>
      </a:accent5>
      <a:accent6>
        <a:srgbClr val="4DD08F"/>
      </a:accent6>
      <a:hlink>
        <a:srgbClr val="2D5BFF"/>
      </a:hlink>
      <a:folHlink>
        <a:srgbClr val="8F6B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202632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202632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202632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202632"/>
      </a:dk1>
      <a:lt1>
        <a:srgbClr val="FFFFFF"/>
      </a:lt1>
      <a:dk2>
        <a:srgbClr val="4A5568"/>
      </a:dk2>
      <a:lt2>
        <a:srgbClr val="E7EDF7"/>
      </a:lt2>
      <a:accent1>
        <a:srgbClr val="0A84FF"/>
      </a:accent1>
      <a:accent2>
        <a:srgbClr val="8F6BFF"/>
      </a:accent2>
      <a:accent3>
        <a:srgbClr val="AAB4C3"/>
      </a:accent3>
      <a:accent4>
        <a:srgbClr val="FFD166"/>
      </a:accent4>
      <a:accent5>
        <a:srgbClr val="25C2D9"/>
      </a:accent5>
      <a:accent6>
        <a:srgbClr val="4DD08F"/>
      </a:accent6>
      <a:hlink>
        <a:srgbClr val="2D5BFF"/>
      </a:hlink>
      <a:folHlink>
        <a:srgbClr val="8F6B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202632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202632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202632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主题​​</Template>
  <TotalTime>0</TotalTime>
  <Words>3972</Words>
  <Application>WPS 演示</Application>
  <PresentationFormat>宽屏</PresentationFormat>
  <Paragraphs>455</Paragraphs>
  <Slides>19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8" baseType="lpstr">
      <vt:lpstr>Arial</vt:lpstr>
      <vt:lpstr>宋体</vt:lpstr>
      <vt:lpstr>Wingdings</vt:lpstr>
      <vt:lpstr>Arial</vt:lpstr>
      <vt:lpstr>MiSans VF Demibold</vt:lpstr>
      <vt:lpstr>JetBrains Mono</vt:lpstr>
      <vt:lpstr>MiSans VF Bold</vt:lpstr>
      <vt:lpstr>ChillYunmoGothicBold</vt:lpstr>
      <vt:lpstr>Didot</vt:lpstr>
      <vt:lpstr>MiSans VF ExtraLight</vt:lpstr>
      <vt:lpstr>MiSans VF Light</vt:lpstr>
      <vt:lpstr>黑体</vt:lpstr>
      <vt:lpstr>PingFang SC</vt:lpstr>
      <vt:lpstr>DejaVu Math TeX Gyre</vt:lpstr>
      <vt:lpstr>微软雅黑</vt:lpstr>
      <vt:lpstr>Arial Unicode MS</vt:lpstr>
      <vt:lpstr>Segoe Print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T209833</dc:creator>
  <cp:lastModifiedBy>方wj</cp:lastModifiedBy>
  <cp:revision>13</cp:revision>
  <dcterms:created xsi:type="dcterms:W3CDTF">2026-06-02T14:06:00Z</dcterms:created>
  <dcterms:modified xsi:type="dcterms:W3CDTF">2026-10-10T01:38:55Z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{"Label":"1","ContentProducer":"001191440300708461136T1WFUO","ProduceID":"2370e5eec4230d73a2a0d9e86b56dfa1-hUSf","ReservedCode1":"{\"Type\":\" TC260PG\",\"Version\":1,\"Bindings\":[{\"Type\":\"soft\",\"AlgID\":\"sm3\",\"Value\":\"165bd914408413641b5acdf9bf6c95eb16e3932b660ee7e21eb9e69708db6660\"},{\"Type\":\"hash\",\"AlgID\":\"sm3\",\"Value\":\"9765744d7cf8a26cea47fb2b664de570b538824fec7631037f31aef304e01a2b\"}],\"PubSD\":[{\"Type\":\"DS\",\"AlgID\":\"sm2\",\"TBSData\":{\"Type\":\"Binding\",\"BType\":\"hash\"},\"Signature\":\"3044022073440cf4f19d714a37c81aec06cc1e4a886cf590c4e6cacdb5546b84f72bbe5302202557f4363ecf0e79185c0caa0d626da542beb51d44febb2f52f375fabd76752f\"},{\"Type\":\"PubKey\",\"AlgID\":\"sm2\",\"KeyValue\":\"0407f79b28a17a752b3aae4305c98b48978213832729a2571850b1310b2bc9fe8fee039ccf25ebfeac27502414d9fcef792d777183c98893d226171c2f7a3289a2\"}],\"Extension\":{\"Timestamp\":1791594597,\"KeyVersion\":\"v1-TxLeOmf7bqU223\"}}","ContentPropagator":"001191440300708461136T1WFUO","PropagateID":"2370e5eec4230d73a2a0d9e86b56dfa1-hUSf","ReservedCode2":"{\"Type\":\" TC260PG\",\"Version\":1,\"Bindings\":[{\"Type\":\"soft\",\"AlgID\":\"sm3\",\"Value\":\"165bd914408413641b5acdf9bf6c95eb16e3932b660ee7e21eb9e69708db6660\"},{\"Type\":\"hash\",\"AlgID\":\"sm3\",\"Value\":\"9765744d7cf8a26cea47fb2b664de570b538824fec7631037f31aef304e01a2b\"}],\"PubSD\":[{\"Type\":\"DS\",\"AlgID\":\"sm2\",\"TBSData\":{\"Type\":\"Binding\",\"BType\":\"hash\"},\"Signature\":\"3045022035b85d1bbfee841222e37e97eddd555ca79b5565db2a56ca0654e9daadce7efa0221009cffbff5778fe654d8b82f75a80d94662394aa9100ee44c9848b7e31a41a6079\"},{\"Type\":\"PubKey\",\"AlgID\":\"sm2\",\"KeyValue\":\"0407f79b28a17a752b3aae4305c98b48978213832729a2571850b1310b2bc9fe8fee039ccf25ebfeac27502414d9fcef792d777183c98893d226171c2f7a3289a2\"}],\"Extension\":{\"Timestamp\":1791594597,\"KeyVersion\":\"v1-TxLeOmf7bqU223\"}}"}</vt:lpwstr>
  </property>
  <property fmtid="{D5CDD505-2E9C-101B-9397-08002B2CF9AE}" pid="3" name="KSOProductBuildVer">
    <vt:lpwstr>2052-12.1.0.28505</vt:lpwstr>
  </property>
  <property fmtid="{D5CDD505-2E9C-101B-9397-08002B2CF9AE}" pid="4" name="ICV">
    <vt:lpwstr>6FCD257E80EE4A90B1E1740954619837_12</vt:lpwstr>
  </property>
</Properties>
</file>