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slides/slide17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7" Type="http://schemas.openxmlformats.org/officeDocument/2006/relationships/slide" Target="slides/slide17.xml" /><Relationship Id="rId15" Type="http://schemas.openxmlformats.org/officeDocument/2006/relationships/slide" Target="slides/slide15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9" Type="http://schemas.openxmlformats.org/officeDocument/2006/relationships/slide" Target="slides/slide9.xml" /><Relationship Id="rId16" Type="http://schemas.openxmlformats.org/officeDocument/2006/relationships/slide" Target="slides/slide16.xml" /><Relationship Id="rId18" Type="http://schemas.openxmlformats.org/officeDocument/2006/relationships/notesMaster" Target="notesMasters/notesMaster1.xml" /><Relationship Id="rId19" Type="http://schemas.openxmlformats.org/officeDocument/2006/relationships/presProps" Target="presProps.xml" /><Relationship Id="rId2" Type="http://schemas.openxmlformats.org/officeDocument/2006/relationships/slide" Target="slides/slide2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1.sv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76200"/>
          </a:xfrm>
          <a:prstGeom prst="rect">
            <a:avLst/>
          </a:prstGeom>
          <a:gradFill>
            <a:gsLst>
              <a:gs pos="0">
                <a:srgbClr val="14B8A6"/>
              </a:gs>
              <a:gs pos="50000">
                <a:srgbClr val="0EA5E9"/>
              </a:gs>
              <a:gs pos="100000">
                <a:srgbClr val="F97316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" name=""/>
          <p:cNvSpPr/>
          <p:nvPr/>
        </p:nvSpPr>
        <p:spPr>
          <a:xfrm rot="0" flipH="0" flipV="0">
            <a:off x="8382000" y="476250"/>
            <a:ext cx="3429000" cy="3429000"/>
          </a:xfrm>
          <a:custGeom>
            <a:pathLst>
              <a:path w="360" h="360">
                <a:moveTo>
                  <a:pt x="180" y="0"/>
                </a:moveTo>
                <a:lnTo>
                  <a:pt x="180" y="0"/>
                </a:lnTo>
                <a:cubicBezTo>
                  <a:pt x="279" y="0"/>
                  <a:pt x="360" y="81"/>
                  <a:pt x="360" y="180"/>
                </a:cubicBezTo>
                <a:lnTo>
                  <a:pt x="360" y="180"/>
                </a:lnTo>
                <a:cubicBezTo>
                  <a:pt x="360" y="279"/>
                  <a:pt x="279" y="360"/>
                  <a:pt x="180" y="360"/>
                </a:cubicBezTo>
                <a:lnTo>
                  <a:pt x="180" y="360"/>
                </a:lnTo>
                <a:cubicBezTo>
                  <a:pt x="81" y="360"/>
                  <a:pt x="0" y="279"/>
                  <a:pt x="0" y="180"/>
                </a:cubicBezTo>
                <a:lnTo>
                  <a:pt x="0" y="180"/>
                </a:lnTo>
                <a:cubicBezTo>
                  <a:pt x="0" y="81"/>
                  <a:pt x="81" y="0"/>
                  <a:pt x="180" y="0"/>
                </a:cubicBezTo>
                <a:close/>
              </a:path>
            </a:pathLst>
          </a:custGeom>
          <a:solidFill>
            <a:srgbClr val="14B8A6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9144000" y="4724400"/>
            <a:ext cx="1905000" cy="1905000"/>
          </a:xfrm>
          <a:custGeom>
            <a:pathLst>
              <a:path w="200" h="200">
                <a:moveTo>
                  <a:pt x="100" y="0"/>
                </a:moveTo>
                <a:lnTo>
                  <a:pt x="100" y="0"/>
                </a:lnTo>
                <a:cubicBezTo>
                  <a:pt x="155" y="0"/>
                  <a:pt x="200" y="45"/>
                  <a:pt x="200" y="100"/>
                </a:cubicBezTo>
                <a:lnTo>
                  <a:pt x="200" y="100"/>
                </a:lnTo>
                <a:cubicBezTo>
                  <a:pt x="200" y="155"/>
                  <a:pt x="155" y="200"/>
                  <a:pt x="100" y="200"/>
                </a:cubicBezTo>
                <a:lnTo>
                  <a:pt x="100" y="200"/>
                </a:lnTo>
                <a:cubicBezTo>
                  <a:pt x="45" y="200"/>
                  <a:pt x="0" y="155"/>
                  <a:pt x="0" y="100"/>
                </a:cubicBezTo>
                <a:lnTo>
                  <a:pt x="0" y="100"/>
                </a:lnTo>
                <a:cubicBezTo>
                  <a:pt x="0" y="45"/>
                  <a:pt x="45" y="0"/>
                  <a:pt x="100" y="0"/>
                </a:cubicBezTo>
                <a:close/>
              </a:path>
            </a:pathLst>
          </a:custGeom>
          <a:solidFill>
            <a:srgbClr val="0EA5E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838200"/>
            <a:ext cx="38100" cy="2667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81050" y="876300"/>
            <a:ext cx="3657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225">
                <a:solidFill>
                  <a:srgbClr val="94A3B8"/>
                </a:solidFill>
                <a:latin typeface="Arial"/>
                <a:ea typeface="Arial"/>
              </a:rPr>
              <a:t>FITNESS &amp; DIET MANAGEMENT APP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1962150"/>
            <a:ext cx="6496050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健身训练与饮食管理系统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64960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14B8A6"/>
                </a:solidFill>
                <a:latin typeface="Microsoft YaHei"/>
                <a:ea typeface="Microsoft YaHei"/>
              </a:rPr>
              <a:t>项目介绍</a:t>
            </a:r>
            <a:r>
              <a:rPr lang="en-US" sz="1950">
                <a:solidFill>
                  <a:srgbClr val="14B8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>
                <a:solidFill>
                  <a:srgbClr val="14B8A6"/>
                </a:solidFill>
                <a:latin typeface="Microsoft YaHei"/>
                <a:ea typeface="Microsoft YaHei"/>
              </a:rPr>
              <a:t>可行性分析</a:t>
            </a:r>
            <a:r>
              <a:rPr lang="en-US" sz="1950">
                <a:solidFill>
                  <a:srgbClr val="14B8A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950">
                <a:solidFill>
                  <a:srgbClr val="14B8A6"/>
                </a:solidFill>
                <a:latin typeface="Microsoft YaHei"/>
                <a:ea typeface="Microsoft YaHei"/>
              </a:rPr>
              <a:t>实施计划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6019800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软件工程课程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· G13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小组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2886075" y="6029325"/>
            <a:ext cx="9525" cy="1905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276600" y="6019800"/>
            <a:ext cx="11715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方文锦</a:t>
            </a:r>
            <a:r>
              <a:rPr lang="en-US" sz="1350">
                <a:solidFill>
                  <a:srgbClr val="CBD5E1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CBD5E1"/>
                </a:solidFill>
                <a:latin typeface="Microsoft YaHei"/>
                <a:ea typeface="Microsoft YaHei"/>
              </a:rPr>
              <a:t>陈智杰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829175" y="6029325"/>
            <a:ext cx="9525" cy="190500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5219700" y="6019800"/>
            <a:ext cx="390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CBD5E1"/>
                </a:solidFill>
                <a:latin typeface="Arial"/>
                <a:ea typeface="Arial"/>
              </a:rPr>
              <a:t>2026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609600" y="457200"/>
            <a:ext cx="10668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225">
                <a:solidFill>
                  <a:srgbClr val="0EA5E9"/>
                </a:solidFill>
                <a:latin typeface="Arial"/>
                <a:ea typeface="Arial"/>
              </a:rPr>
              <a:t>CONTENTS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1828800" y="457200"/>
            <a:ext cx="5715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2552700" y="457200"/>
            <a:ext cx="571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F172A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2705100"/>
            <a:ext cx="28575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0F172A"/>
                </a:solidFill>
                <a:latin typeface="Microsoft YaHei"/>
                <a:ea typeface="Microsoft YaHei"/>
              </a:rPr>
              <a:t>导览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09600" y="3524250"/>
            <a:ext cx="2857500" cy="1057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从背景目标，到需求功能、技术架构与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分析，再到可行性与实施计划的整体介绍。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3848100" y="1028700"/>
            <a:ext cx="7734300" cy="695325"/>
          </a:xfrm>
          <a:prstGeom prst="roundRect">
            <a:avLst>
              <a:gd name="adj" fmla="val 1369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057650" y="1190625"/>
            <a:ext cx="34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4B8A6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4610100" y="1171575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项目背景与目标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610100" y="1428750"/>
            <a:ext cx="1466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4A3B8"/>
                </a:solidFill>
                <a:latin typeface="Arial"/>
                <a:ea typeface="Arial"/>
              </a:rPr>
              <a:t>Background &amp; Goals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3848100" y="2162175"/>
            <a:ext cx="7734300" cy="695325"/>
          </a:xfrm>
          <a:prstGeom prst="roundRect">
            <a:avLst>
              <a:gd name="adj" fmla="val 1369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057650" y="2324100"/>
            <a:ext cx="34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4B8A6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4610100" y="2305050"/>
            <a:ext cx="1600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需求与功能模块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4610100" y="2562225"/>
            <a:ext cx="1600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4A3B8"/>
                </a:solidFill>
                <a:latin typeface="Arial"/>
                <a:ea typeface="Arial"/>
              </a:rPr>
              <a:t>Requirements &amp; Modules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3848100" y="3295650"/>
            <a:ext cx="7734300" cy="695325"/>
          </a:xfrm>
          <a:prstGeom prst="roundRect">
            <a:avLst>
              <a:gd name="adj" fmla="val 1369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4057650" y="3457575"/>
            <a:ext cx="34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4B8A6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4610100" y="3438525"/>
            <a:ext cx="1828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技术架构与</a:t>
            </a:r>
            <a:r>
              <a:rPr lang="en-US" sz="165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610100" y="3695700"/>
            <a:ext cx="1828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4A3B8"/>
                </a:solidFill>
                <a:latin typeface="Arial"/>
                <a:ea typeface="Arial"/>
              </a:rPr>
              <a:t>Architecture &amp; AI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3848100" y="4429125"/>
            <a:ext cx="7734300" cy="695325"/>
          </a:xfrm>
          <a:prstGeom prst="roundRect">
            <a:avLst>
              <a:gd name="adj" fmla="val 1369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4057650" y="4591050"/>
            <a:ext cx="34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4B8A6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610100" y="4572000"/>
            <a:ext cx="1066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可行性分析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610100" y="4829175"/>
            <a:ext cx="1066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4A3B8"/>
                </a:solidFill>
                <a:latin typeface="Arial"/>
                <a:ea typeface="Arial"/>
              </a:rPr>
              <a:t>Feasibility Study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3848100" y="5562600"/>
            <a:ext cx="7734300" cy="695325"/>
          </a:xfrm>
          <a:prstGeom prst="roundRect">
            <a:avLst>
              <a:gd name="adj" fmla="val 1369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057650" y="5724525"/>
            <a:ext cx="3429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400" b="1">
                <a:solidFill>
                  <a:srgbClr val="14B8A6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4610100" y="5705475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项目计划与实施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4610100" y="5962650"/>
            <a:ext cx="1466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4A3B8"/>
                </a:solidFill>
                <a:latin typeface="Arial"/>
                <a:ea typeface="Arial"/>
              </a:rPr>
              <a:t>Plan &amp; Execution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01 · BACKGROUND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2762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一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项目背景与意义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609600" y="1438275"/>
            <a:ext cx="3533775" cy="3552825"/>
          </a:xfrm>
          <a:prstGeom prst="roundRect">
            <a:avLst>
              <a:gd name="adj" fmla="val 3235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09600" y="1438275"/>
            <a:ext cx="3533775" cy="3552825"/>
          </a:xfrm>
          <a:custGeom>
            <a:pathLst>
              <a:path w="371" h="373">
                <a:moveTo>
                  <a:pt x="360" y="0"/>
                </a:moveTo>
                <a:cubicBezTo>
                  <a:pt x="365" y="0"/>
                  <a:pt x="370" y="4"/>
                  <a:pt x="371" y="10"/>
                </a:cubicBezTo>
                <a:cubicBezTo>
                  <a:pt x="370" y="6"/>
                  <a:pt x="367" y="4"/>
                  <a:pt x="3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19150" y="1647825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766E"/>
                </a:solidFill>
                <a:latin typeface="Microsoft YaHei"/>
                <a:ea typeface="Microsoft YaHei"/>
              </a:rPr>
              <a:t>记录分散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19150" y="2019300"/>
            <a:ext cx="31146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训练动作、组数、饮食克重与体重常分散记录在不同位置，难以集中管理。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4333875" y="1438275"/>
            <a:ext cx="3524250" cy="3552825"/>
          </a:xfrm>
          <a:prstGeom prst="roundRect">
            <a:avLst>
              <a:gd name="adj" fmla="val 324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4333875" y="1438275"/>
            <a:ext cx="3524250" cy="3552825"/>
          </a:xfrm>
          <a:custGeom>
            <a:pathLst>
              <a:path w="370" h="373">
                <a:moveTo>
                  <a:pt x="359" y="0"/>
                </a:moveTo>
                <a:cubicBezTo>
                  <a:pt x="364" y="0"/>
                  <a:pt x="369" y="4"/>
                  <a:pt x="370" y="10"/>
                </a:cubicBezTo>
                <a:cubicBezTo>
                  <a:pt x="369" y="6"/>
                  <a:pt x="366" y="4"/>
                  <a:pt x="36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4543425" y="1647825"/>
            <a:ext cx="3105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766E"/>
                </a:solidFill>
                <a:latin typeface="Microsoft YaHei"/>
                <a:ea typeface="Microsoft YaHei"/>
              </a:rPr>
              <a:t>难以回顾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543425" y="2019300"/>
            <a:ext cx="31051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用户很难快速回答「本周练了几次」「当天摄入多少能量」。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8048625" y="1438275"/>
            <a:ext cx="3533775" cy="3552825"/>
          </a:xfrm>
          <a:prstGeom prst="roundRect">
            <a:avLst>
              <a:gd name="adj" fmla="val 3235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048625" y="1438275"/>
            <a:ext cx="3533775" cy="3552825"/>
          </a:xfrm>
          <a:custGeom>
            <a:pathLst>
              <a:path w="371" h="373">
                <a:moveTo>
                  <a:pt x="360" y="0"/>
                </a:moveTo>
                <a:cubicBezTo>
                  <a:pt x="365" y="0"/>
                  <a:pt x="370" y="4"/>
                  <a:pt x="371" y="10"/>
                </a:cubicBezTo>
                <a:cubicBezTo>
                  <a:pt x="370" y="6"/>
                  <a:pt x="367" y="4"/>
                  <a:pt x="36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359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258175" y="1647825"/>
            <a:ext cx="31146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766E"/>
                </a:solidFill>
                <a:latin typeface="Microsoft YaHei"/>
                <a:ea typeface="Microsoft YaHei"/>
              </a:rPr>
              <a:t>难判执行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258175" y="2019300"/>
            <a:ext cx="31146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难以结合训练、饮食与体重信息判断计划的实际执行情况。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09600" y="5124450"/>
            <a:ext cx="10972800" cy="1152525"/>
          </a:xfrm>
          <a:prstGeom prst="roundRect">
            <a:avLst>
              <a:gd name="adj" fmla="val 9917"/>
            </a:avLst>
          </a:prstGeom>
          <a:gradFill>
            <a:gsLst>
              <a:gs pos="0">
                <a:srgbClr val="0F766E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57250" y="5334000"/>
            <a:ext cx="1047750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本项目的应对：以统一日期与用户身份关联记录，在手机上提供随时记录、回顾与授权后自动分析的完整流程，让用户快速看清训练、饮食与体重的变化。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01 · GOALS &amp; SCOPE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2762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一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项目目标与边界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609600" y="1400175"/>
            <a:ext cx="5372100" cy="4238625"/>
          </a:xfrm>
          <a:prstGeom prst="roundRect">
            <a:avLst>
              <a:gd name="adj" fmla="val 2697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766E"/>
                </a:solidFill>
                <a:latin typeface="Microsoft YaHei"/>
                <a:ea typeface="Microsoft YaHei"/>
              </a:rPr>
              <a:t>核心目标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838200" y="2019300"/>
            <a:ext cx="4914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支持用户完成「制定计划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记录执行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查看统计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分析情况</a:t>
            </a: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调整安排」的完整使用过程。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838200" y="294322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1009650" y="2876550"/>
            <a:ext cx="2914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账户、训练、饮食、身体数据与统计图表</a:t>
            </a:r>
            <a:endParaRPr/>
          </a:p>
        </p:txBody>
      </p:sp>
      <p:sp>
        <p:nvSpPr>
          <p:cNvPr id="309" name=""/>
          <p:cNvSpPr/>
          <p:nvPr/>
        </p:nvSpPr>
        <p:spPr>
          <a:xfrm rot="0" flipH="0" flipV="0">
            <a:off x="838200" y="32385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1009650" y="3171825"/>
            <a:ext cx="3343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新增一键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健身分析（授权后读取本人记录）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838200" y="353377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009650" y="3467100"/>
            <a:ext cx="2714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 xml:space="preserve">Android 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手机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 xml:space="preserve"> App 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的安装与使用体验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210300" y="1400175"/>
            <a:ext cx="5372100" cy="4238625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438900" y="1628775"/>
            <a:ext cx="49149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A5E9"/>
                </a:solidFill>
                <a:latin typeface="Microsoft YaHei"/>
                <a:ea typeface="Microsoft YaHei"/>
              </a:rPr>
              <a:t>首版边界（不纳入）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438900" y="2019300"/>
            <a:ext cx="4914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系统定位为个人记录与管理工具，结果属估算，不作疾病诊断或治疗建议。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6438900" y="287655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食物图片识别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6438900" y="3171825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穿戴设备接入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438900" y="3467100"/>
            <a:ext cx="2171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—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社交社区与自动处方式推荐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438900" y="3762375"/>
            <a:ext cx="297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— </a:t>
            </a:r>
            <a:r>
              <a:rPr lang="en-US" sz="1275">
                <a:solidFill>
                  <a:srgbClr val="94A3B8"/>
                </a:solidFill>
                <a:latin typeface="Microsoft YaHei"/>
                <a:ea typeface="Microsoft YaHei"/>
              </a:rPr>
              <a:t xml:space="preserve">iOS </a:t>
            </a:r>
            <a:r>
              <a:rPr lang="zh-CN" sz="1275">
                <a:solidFill>
                  <a:srgbClr val="94A3B8"/>
                </a:solidFill>
                <a:latin typeface="Microsoft YaHei"/>
                <a:ea typeface="Microsoft YaHei"/>
              </a:rPr>
              <a:t>适配（作为条件允许的后续扩展）</a:t>
            </a:r>
            <a:endParaRPr/>
          </a:p>
        </p:txBody>
      </p:sp>
      <p:sp>
        <p:nvSpPr>
          <p:cNvPr id="320" name=""/>
          <p:cNvSpPr/>
          <p:nvPr/>
        </p:nvSpPr>
        <p:spPr>
          <a:xfrm rot="0" flipH="0" flipV="0">
            <a:off x="609600" y="5810250"/>
            <a:ext cx="10972800" cy="466725"/>
          </a:xfrm>
          <a:prstGeom prst="roundRect">
            <a:avLst>
              <a:gd name="adj" fmla="val 20408"/>
            </a:avLst>
          </a:prstGeom>
          <a:gradFill>
            <a:gsLst>
              <a:gs pos="0">
                <a:srgbClr val="0F766E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19150" y="5943600"/>
            <a:ext cx="1055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范围守门：首版不含四项扩展功能，边界已书面冻结，确保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周计划聚焦可交付的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 Android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应用。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3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02 · REQUIREMENTS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2762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二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需求与功能模块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766E"/>
                </a:solidFill>
                <a:latin typeface="Microsoft YaHei"/>
                <a:ea typeface="Microsoft YaHei"/>
              </a:rPr>
              <a:t>用户角色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1819275"/>
            <a:ext cx="5372100" cy="4495800"/>
          </a:xfrm>
          <a:prstGeom prst="roundRect">
            <a:avLst>
              <a:gd name="adj" fmla="val 254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1819275"/>
            <a:ext cx="5372100" cy="4495800"/>
          </a:xfrm>
          <a:custGeom>
            <a:pathLst>
              <a:path w="564" h="472">
                <a:moveTo>
                  <a:pt x="553" y="0"/>
                </a:moveTo>
                <a:cubicBezTo>
                  <a:pt x="558" y="0"/>
                  <a:pt x="563" y="4"/>
                  <a:pt x="564" y="10"/>
                </a:cubicBezTo>
                <a:cubicBezTo>
                  <a:pt x="563" y="6"/>
                  <a:pt x="560" y="4"/>
                  <a:pt x="556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52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38200" y="2047875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普通用户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838200" y="2457450"/>
            <a:ext cx="49149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维护个人资料、训练与饮食计划、每日记录，查看本人统计图表。</a:t>
            </a:r>
            <a:endParaRPr/>
          </a:p>
        </p:txBody>
      </p:sp>
      <p:sp>
        <p:nvSpPr>
          <p:cNvPr id="334" name=""/>
          <p:cNvSpPr/>
          <p:nvPr/>
        </p:nvSpPr>
        <p:spPr>
          <a:xfrm rot="0" flipH="0" flipV="0">
            <a:off x="838200" y="3333750"/>
            <a:ext cx="49149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990600" y="3448050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F766E"/>
                </a:solidFill>
                <a:latin typeface="Microsoft YaHei"/>
                <a:ea typeface="Microsoft YaHei"/>
              </a:rPr>
              <a:t>权限边界：仅访问本人私有数据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210300" y="1819275"/>
            <a:ext cx="5372100" cy="4495800"/>
          </a:xfrm>
          <a:prstGeom prst="roundRect">
            <a:avLst>
              <a:gd name="adj" fmla="val 254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6210300" y="1819275"/>
            <a:ext cx="5372100" cy="4495800"/>
          </a:xfrm>
          <a:custGeom>
            <a:pathLst>
              <a:path w="564" h="472">
                <a:moveTo>
                  <a:pt x="553" y="0"/>
                </a:moveTo>
                <a:cubicBezTo>
                  <a:pt x="558" y="0"/>
                  <a:pt x="563" y="4"/>
                  <a:pt x="564" y="10"/>
                </a:cubicBezTo>
                <a:cubicBezTo>
                  <a:pt x="563" y="6"/>
                  <a:pt x="560" y="4"/>
                  <a:pt x="556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52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6438900" y="2047875"/>
            <a:ext cx="49149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F172A"/>
                </a:solidFill>
                <a:latin typeface="Microsoft YaHei"/>
                <a:ea typeface="Microsoft YaHei"/>
              </a:rPr>
              <a:t>管理员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6438900" y="2457450"/>
            <a:ext cx="49149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维护动作库、公共食物库及账户状态，保障基础数据质量。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438900" y="2981325"/>
            <a:ext cx="4914900" cy="41910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6591300" y="3095625"/>
            <a:ext cx="461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A5E9"/>
                </a:solidFill>
                <a:latin typeface="Microsoft YaHei"/>
                <a:ea typeface="Microsoft YaHei"/>
              </a:rPr>
              <a:t>权限边界：管理接口单独鉴权，记录关键操作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3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02 · MODULES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2762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二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需求与功能模块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766E"/>
                </a:solidFill>
                <a:latin typeface="Microsoft YaHei"/>
                <a:ea typeface="Microsoft YaHei"/>
              </a:rPr>
              <a:t>八大功能模块（均含明确验收依据）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" y="1685925"/>
            <a:ext cx="2657475" cy="2257425"/>
          </a:xfrm>
          <a:prstGeom prst="roundRect">
            <a:avLst>
              <a:gd name="adj" fmla="val 421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762000" y="181927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076325" y="18288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账户与目标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762000" y="2124075"/>
            <a:ext cx="2352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注册登录、资料、每日能量与营养目标设置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3381375" y="1685925"/>
            <a:ext cx="2657475" cy="2257425"/>
          </a:xfrm>
          <a:prstGeom prst="roundRect">
            <a:avLst>
              <a:gd name="adj" fmla="val 421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533775" y="181927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3848100" y="18288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训练管理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3533775" y="2124075"/>
            <a:ext cx="2352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创建计划、选动作、记录组次、完成打卡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153150" y="1685925"/>
            <a:ext cx="2657475" cy="2257425"/>
          </a:xfrm>
          <a:prstGeom prst="roundRect">
            <a:avLst>
              <a:gd name="adj" fmla="val 421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305550" y="181927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619875" y="18288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饮食管理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305550" y="2124075"/>
            <a:ext cx="23526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搜索食物、按餐次录克重、汇总营养</a:t>
            </a:r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8924925" y="1685925"/>
            <a:ext cx="2657475" cy="2257425"/>
          </a:xfrm>
          <a:prstGeom prst="roundRect">
            <a:avLst>
              <a:gd name="adj" fmla="val 421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9077325" y="1819275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9391650" y="18288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身体数据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9077325" y="2124075"/>
            <a:ext cx="23526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按日记录体重，展示区间与七日平均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609600" y="4057650"/>
            <a:ext cx="2657475" cy="2257425"/>
          </a:xfrm>
          <a:prstGeom prst="roundRect">
            <a:avLst>
              <a:gd name="adj" fmla="val 421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762000" y="41910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076325" y="42005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统计分析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762000" y="4495800"/>
            <a:ext cx="23526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完成率、每日摄入、体重趋势可切换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3381375" y="4057650"/>
            <a:ext cx="2657475" cy="2257425"/>
          </a:xfrm>
          <a:prstGeom prst="roundRect">
            <a:avLst>
              <a:gd name="adj" fmla="val 421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533775" y="41910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Arial"/>
                <a:ea typeface="Arial"/>
              </a:rPr>
              <a:t>06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3848100" y="4200525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后台管理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533775" y="4495800"/>
            <a:ext cx="2352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动作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>/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食物库维护、来源标注、账户状态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6153150" y="4057650"/>
            <a:ext cx="2657475" cy="2257425"/>
          </a:xfrm>
          <a:prstGeom prst="roundRect">
            <a:avLst>
              <a:gd name="adj" fmla="val 421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6305550" y="41910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Arial"/>
                <a:ea typeface="Arial"/>
              </a:rPr>
              <a:t>07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6619875" y="4200525"/>
            <a:ext cx="981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健身分析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6305550" y="4495800"/>
            <a:ext cx="2352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授权后读本人记录，一键生成分析报告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8924925" y="4057650"/>
            <a:ext cx="2657475" cy="2257425"/>
          </a:xfrm>
          <a:prstGeom prst="roundRect">
            <a:avLst>
              <a:gd name="adj" fmla="val 421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077325" y="4191000"/>
            <a:ext cx="219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97316"/>
                </a:solidFill>
                <a:latin typeface="Arial"/>
                <a:ea typeface="Arial"/>
              </a:rPr>
              <a:t>08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391650" y="4200525"/>
            <a:ext cx="981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172A"/>
                </a:solidFill>
                <a:latin typeface="Microsoft YaHei"/>
                <a:ea typeface="Microsoft YaHei"/>
              </a:rPr>
              <a:t>移动端</a:t>
            </a:r>
            <a:r>
              <a:rPr lang="en-US" sz="1425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App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9077325" y="4495800"/>
            <a:ext cx="235267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Vue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经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Capacitor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封装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Android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安装包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03 · ARCHITECTURE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39814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三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技术架构（前后端分离）</a:t>
            </a:r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609600" y="136207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1362075"/>
            <a:ext cx="1619250" cy="742950"/>
          </a:xfrm>
          <a:custGeom>
            <a:pathLst>
              <a:path w="170" h="78">
                <a:moveTo>
                  <a:pt x="170" y="78"/>
                </a:moveTo>
                <a:lnTo>
                  <a:pt x="10" y="78"/>
                </a:lnTo>
                <a:cubicBezTo>
                  <a:pt x="4" y="78"/>
                  <a:pt x="0" y="74"/>
                  <a:pt x="0" y="68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7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81050" y="1628775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表现层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2419350" y="1628775"/>
            <a:ext cx="327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Vue 3 · Vue Router · Axios · Capacitor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848350" y="1647825"/>
            <a:ext cx="2781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手机页面、路由、接口调用与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Android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封装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2200275"/>
            <a:ext cx="10972800" cy="752475"/>
          </a:xfrm>
          <a:prstGeom prst="roundRect">
            <a:avLst>
              <a:gd name="adj" fmla="val 1265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09600" y="2200275"/>
            <a:ext cx="1619250" cy="752475"/>
          </a:xfrm>
          <a:custGeom>
            <a:pathLst>
              <a:path w="170" h="79">
                <a:moveTo>
                  <a:pt x="170" y="79"/>
                </a:moveTo>
                <a:lnTo>
                  <a:pt x="10" y="79"/>
                </a:lnTo>
                <a:cubicBezTo>
                  <a:pt x="4" y="79"/>
                  <a:pt x="0" y="75"/>
                  <a:pt x="0" y="69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7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81050" y="2466975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图表层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2419350" y="2476500"/>
            <a:ext cx="1352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Apache ECharts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3924300" y="24955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展示摄入、训练和体重趋势</a:t>
            </a:r>
            <a:endParaRPr/>
          </a:p>
        </p:txBody>
      </p:sp>
      <p:sp>
        <p:nvSpPr>
          <p:cNvPr id="399" name=""/>
          <p:cNvSpPr/>
          <p:nvPr/>
        </p:nvSpPr>
        <p:spPr>
          <a:xfrm rot="0" flipH="0" flipV="0">
            <a:off x="609600" y="304800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3048000"/>
            <a:ext cx="1619250" cy="742950"/>
          </a:xfrm>
          <a:custGeom>
            <a:pathLst>
              <a:path w="170" h="78">
                <a:moveTo>
                  <a:pt x="170" y="78"/>
                </a:moveTo>
                <a:lnTo>
                  <a:pt x="10" y="78"/>
                </a:lnTo>
                <a:cubicBezTo>
                  <a:pt x="4" y="78"/>
                  <a:pt x="0" y="74"/>
                  <a:pt x="0" y="68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7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81050" y="3314700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业务层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2419350" y="3314700"/>
            <a:ext cx="25241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Spring Boot · Spring Security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5095875" y="3333750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接口、鉴权、校验与业务计算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3886200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09600" y="3886200"/>
            <a:ext cx="1619250" cy="742950"/>
          </a:xfrm>
          <a:custGeom>
            <a:pathLst>
              <a:path w="170" h="78">
                <a:moveTo>
                  <a:pt x="170" y="78"/>
                </a:moveTo>
                <a:lnTo>
                  <a:pt x="10" y="78"/>
                </a:lnTo>
                <a:cubicBezTo>
                  <a:pt x="4" y="78"/>
                  <a:pt x="0" y="74"/>
                  <a:pt x="0" y="68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7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781050" y="4152900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持久层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2419350" y="4152900"/>
            <a:ext cx="2486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Spring Data JPA · MySQL 8.4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057775" y="4171950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数据映射、事务和查询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609600" y="4724400"/>
            <a:ext cx="10972800" cy="752475"/>
          </a:xfrm>
          <a:prstGeom prst="roundRect">
            <a:avLst>
              <a:gd name="adj" fmla="val 1265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4724400"/>
            <a:ext cx="1619250" cy="752475"/>
          </a:xfrm>
          <a:custGeom>
            <a:pathLst>
              <a:path w="170" h="79">
                <a:moveTo>
                  <a:pt x="170" y="79"/>
                </a:moveTo>
                <a:lnTo>
                  <a:pt x="10" y="79"/>
                </a:lnTo>
                <a:cubicBezTo>
                  <a:pt x="4" y="79"/>
                  <a:pt x="0" y="75"/>
                  <a:pt x="0" y="69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7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81050" y="4991100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服务层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2419350" y="5000625"/>
            <a:ext cx="29241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Ollama · Qwen3-4B-Instruct-2507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5495925" y="5019675"/>
            <a:ext cx="3286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服务端本地部署开源模型，生成基于事实摘要的分析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09600" y="5572125"/>
            <a:ext cx="10972800" cy="742950"/>
          </a:xfrm>
          <a:prstGeom prst="roundRect">
            <a:avLst>
              <a:gd name="adj" fmla="val 12821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5572125"/>
            <a:ext cx="1619250" cy="742950"/>
          </a:xfrm>
          <a:custGeom>
            <a:pathLst>
              <a:path w="170" h="78">
                <a:moveTo>
                  <a:pt x="170" y="78"/>
                </a:moveTo>
                <a:lnTo>
                  <a:pt x="10" y="78"/>
                </a:lnTo>
                <a:cubicBezTo>
                  <a:pt x="4" y="78"/>
                  <a:pt x="0" y="74"/>
                  <a:pt x="0" y="68"/>
                </a:cubicBezTo>
                <a:lnTo>
                  <a:pt x="0" y="10"/>
                </a:lnTo>
                <a:cubicBezTo>
                  <a:pt x="0" y="4"/>
                  <a:pt x="4" y="0"/>
                  <a:pt x="10" y="0"/>
                </a:cubicBezTo>
                <a:lnTo>
                  <a:pt x="170" y="0"/>
                </a:ln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81050" y="5838825"/>
            <a:ext cx="12763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协作与移动构建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2419350" y="5838825"/>
            <a:ext cx="4143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Microsoft YaHei"/>
                <a:ea typeface="Microsoft YaHei"/>
              </a:rPr>
              <a:t>Git · Maven · Vite · Android SDK · Capacitor CLI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715125" y="5857875"/>
            <a:ext cx="2428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版本管理、依赖构建与移动端打包调试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07 / 16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4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03 · DATA DESIGN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36766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三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核心数据表与业务规则</a:t>
            </a:r>
            <a:endParaRPr/>
          </a:p>
        </p:txBody>
      </p:sp>
      <p:sp>
        <p:nvSpPr>
          <p:cNvPr id="425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609600" y="1343025"/>
            <a:ext cx="2114550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742950" y="1457325"/>
            <a:ext cx="184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user_account</a:t>
            </a:r>
            <a:endParaRPr/>
          </a:p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42950" y="1704975"/>
            <a:ext cx="18478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id, username, password_hash, role</a:t>
            </a:r>
            <a:endParaRPr/>
          </a:p>
        </p:txBody>
      </p:sp>
      <p:sp>
        <p:nvSpPr>
          <p:cNvPr id="429" name=""/>
          <p:cNvSpPr/>
          <p:nvPr/>
        </p:nvSpPr>
        <p:spPr>
          <a:xfrm rot="0" flipH="0" flipV="0">
            <a:off x="2819400" y="1343025"/>
            <a:ext cx="2124075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2952750" y="1457325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daily_goal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2952750" y="1704975"/>
            <a:ext cx="18573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user_id, effective_date, kcal, protein_g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5038725" y="1343025"/>
            <a:ext cx="2114550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5172075" y="1457325"/>
            <a:ext cx="184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training_plan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172075" y="1704975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id, user_id, planned_date, status</a:t>
            </a:r>
            <a:endParaRPr/>
          </a:p>
        </p:txBody>
      </p:sp>
      <p:sp>
        <p:nvSpPr>
          <p:cNvPr id="435" name=""/>
          <p:cNvSpPr/>
          <p:nvPr/>
        </p:nvSpPr>
        <p:spPr>
          <a:xfrm rot="0" flipH="0" flipV="0">
            <a:off x="7248525" y="1343025"/>
            <a:ext cx="2124075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381875" y="1457325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plan_item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381875" y="1704975"/>
            <a:ext cx="1857375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plan_id, exercise_id, target_sets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9467850" y="1343025"/>
            <a:ext cx="2114550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9601200" y="1457325"/>
            <a:ext cx="184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workout_log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9601200" y="1704975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id, user_id, plan_id, performed_at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609600" y="3429000"/>
            <a:ext cx="2114550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742950" y="3543300"/>
            <a:ext cx="184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workout_set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742950" y="3790950"/>
            <a:ext cx="18478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log_id, exercise_id, weight_kg, reps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2819400" y="3429000"/>
            <a:ext cx="2124075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2952750" y="3543300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diet_record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2952750" y="3790950"/>
            <a:ext cx="18573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 xml:space="preserve">user_id, date, meal, grams, </a:t>
            </a:r>
            <a:r>
              <a:rPr lang="zh-CN" sz="975">
                <a:solidFill>
                  <a:srgbClr val="475569"/>
                </a:solidFill>
                <a:latin typeface="Arial"/>
                <a:ea typeface="Arial"/>
              </a:rPr>
              <a:t>营养快照</a:t>
            </a:r>
            <a:endParaRPr/>
          </a:p>
        </p:txBody>
      </p:sp>
      <p:sp>
        <p:nvSpPr>
          <p:cNvPr id="447" name=""/>
          <p:cNvSpPr/>
          <p:nvPr/>
        </p:nvSpPr>
        <p:spPr>
          <a:xfrm rot="0" flipH="0" flipV="0">
            <a:off x="5038725" y="3429000"/>
            <a:ext cx="2114550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5172075" y="3543300"/>
            <a:ext cx="184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body_record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5172075" y="379095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user_id, record_date, weight_kg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7248525" y="3429000"/>
            <a:ext cx="2124075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7381875" y="3543300"/>
            <a:ext cx="1857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ai_consent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381875" y="3790950"/>
            <a:ext cx="1857375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user_id, granted_at, revoked_at, scope</a:t>
            </a:r>
            <a:endParaRPr/>
          </a:p>
        </p:txBody>
      </p:sp>
      <p:sp>
        <p:nvSpPr>
          <p:cNvPr id="453" name=""/>
          <p:cNvSpPr/>
          <p:nvPr/>
        </p:nvSpPr>
        <p:spPr>
          <a:xfrm rot="0" flipH="0" flipV="0">
            <a:off x="9467850" y="3429000"/>
            <a:ext cx="2114550" cy="1990725"/>
          </a:xfrm>
          <a:prstGeom prst="roundRect">
            <a:avLst>
              <a:gd name="adj" fmla="val 382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9601200" y="3543300"/>
            <a:ext cx="1847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766E"/>
                </a:solidFill>
                <a:latin typeface="Arial"/>
                <a:ea typeface="Arial"/>
              </a:rPr>
              <a:t>ai_report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9601200" y="3790950"/>
            <a:ext cx="18478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975">
                <a:solidFill>
                  <a:srgbClr val="475569"/>
                </a:solidFill>
                <a:latin typeface="Arial"/>
                <a:ea typeface="Arial"/>
              </a:rPr>
              <a:t>user_id, period, content, model_version</a:t>
            </a:r>
            <a:endParaRPr/>
          </a:p>
        </p:txBody>
      </p:sp>
      <p:sp>
        <p:nvSpPr>
          <p:cNvPr id="456" name=""/>
          <p:cNvSpPr/>
          <p:nvPr/>
        </p:nvSpPr>
        <p:spPr>
          <a:xfrm rot="0" flipH="0" flipV="0">
            <a:off x="609600" y="5514975"/>
            <a:ext cx="10972800" cy="5715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62000" y="5629275"/>
            <a:ext cx="106680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关键规则：摄入量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每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>100g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营养值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×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克重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÷ 100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；同日体重唯一、缺失不补零；完成率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已完成计划数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未取消计划数；所有私有记录按</a:t>
            </a:r>
            <a:r>
              <a:rPr lang="en-US" sz="1125">
                <a:solidFill>
                  <a:srgbClr val="FFFFFF"/>
                </a:solidFill>
                <a:latin typeface="Microsoft YaHei"/>
                <a:ea typeface="Microsoft YaHei"/>
              </a:rPr>
              <a:t xml:space="preserve"> user_id </a:t>
            </a:r>
            <a:r>
              <a:rPr lang="zh-CN" sz="1125">
                <a:solidFill>
                  <a:srgbClr val="FFFFFF"/>
                </a:solidFill>
                <a:latin typeface="Microsoft YaHei"/>
                <a:ea typeface="Microsoft YaHei"/>
              </a:rPr>
              <a:t>归属，多表写入用事务。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09600" y="61817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基础表另含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exercise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（动作库）与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food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（食物库：每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100g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营养值、来源、生熟状态）。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4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03 · AI ANALYSIS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2962275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三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一键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分析流程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66" name=""/>
          <p:cNvSpPr/>
          <p:nvPr/>
        </p:nvSpPr>
        <p:spPr>
          <a:xfrm rot="0" flipH="0" flipV="0">
            <a:off x="609600" y="1438275"/>
            <a:ext cx="2676525" cy="4010025"/>
          </a:xfrm>
          <a:prstGeom prst="roundRect">
            <a:avLst>
              <a:gd name="adj" fmla="val 4270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09600" y="1438275"/>
            <a:ext cx="2676525" cy="4010025"/>
          </a:xfrm>
          <a:custGeom>
            <a:pathLst>
              <a:path w="281" h="421">
                <a:moveTo>
                  <a:pt x="270" y="0"/>
                </a:moveTo>
                <a:cubicBezTo>
                  <a:pt x="275" y="0"/>
                  <a:pt x="280" y="4"/>
                  <a:pt x="281" y="10"/>
                </a:cubicBezTo>
                <a:cubicBezTo>
                  <a:pt x="280" y="6"/>
                  <a:pt x="277" y="4"/>
                  <a:pt x="27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762000" y="1609725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876300" y="16668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762000" y="2047875"/>
            <a:ext cx="2371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授权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62000" y="2371725"/>
            <a:ext cx="2371725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首次进入确认使用范围，后端按当前登录用户身份读取本人数据，无需重复填写。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3381375" y="1438275"/>
            <a:ext cx="2667000" cy="4010025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3381375" y="1438275"/>
            <a:ext cx="2667000" cy="4010025"/>
          </a:xfrm>
          <a:custGeom>
            <a:pathLst>
              <a:path w="280" h="421">
                <a:moveTo>
                  <a:pt x="269" y="0"/>
                </a:moveTo>
                <a:cubicBezTo>
                  <a:pt x="274" y="0"/>
                  <a:pt x="279" y="4"/>
                  <a:pt x="280" y="10"/>
                </a:cubicBezTo>
                <a:cubicBezTo>
                  <a:pt x="279" y="6"/>
                  <a:pt x="276" y="4"/>
                  <a:pt x="27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8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474" name=""/>
          <p:cNvSpPr/>
          <p:nvPr/>
        </p:nvSpPr>
        <p:spPr>
          <a:xfrm rot="0" flipH="0" flipV="0">
            <a:off x="3533775" y="1609725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648075" y="16668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3533775" y="2047875"/>
            <a:ext cx="2362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汇总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533775" y="2371725"/>
            <a:ext cx="236220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默认汇总最近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天（可切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天），先按确定规则计算统计，再交模型解释。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143625" y="1438275"/>
            <a:ext cx="2676525" cy="4010025"/>
          </a:xfrm>
          <a:prstGeom prst="roundRect">
            <a:avLst>
              <a:gd name="adj" fmla="val 4270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/>
          <p:cNvSpPr/>
          <p:nvPr/>
        </p:nvSpPr>
        <p:spPr>
          <a:xfrm rot="0" flipH="0" flipV="0">
            <a:off x="6143625" y="1438275"/>
            <a:ext cx="2676525" cy="4010025"/>
          </a:xfrm>
          <a:custGeom>
            <a:pathLst>
              <a:path w="281" h="421">
                <a:moveTo>
                  <a:pt x="270" y="0"/>
                </a:moveTo>
                <a:cubicBezTo>
                  <a:pt x="275" y="0"/>
                  <a:pt x="280" y="4"/>
                  <a:pt x="281" y="10"/>
                </a:cubicBezTo>
                <a:cubicBezTo>
                  <a:pt x="280" y="6"/>
                  <a:pt x="277" y="4"/>
                  <a:pt x="273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9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6296025" y="1609725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6410325" y="16668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296025" y="2047875"/>
            <a:ext cx="23717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生成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296025" y="2371725"/>
            <a:ext cx="23717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报告按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数据概况—训练执行—营养摄入—体重趋势—调整建议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展示。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8915400" y="1438275"/>
            <a:ext cx="2667000" cy="4010025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/>
          <p:cNvSpPr/>
          <p:nvPr/>
        </p:nvSpPr>
        <p:spPr>
          <a:xfrm rot="0" flipH="0" flipV="0">
            <a:off x="8915400" y="1438275"/>
            <a:ext cx="2667000" cy="4010025"/>
          </a:xfrm>
          <a:custGeom>
            <a:pathLst>
              <a:path w="280" h="421">
                <a:moveTo>
                  <a:pt x="269" y="0"/>
                </a:moveTo>
                <a:cubicBezTo>
                  <a:pt x="274" y="0"/>
                  <a:pt x="279" y="4"/>
                  <a:pt x="280" y="10"/>
                </a:cubicBezTo>
                <a:cubicBezTo>
                  <a:pt x="279" y="6"/>
                  <a:pt x="276" y="4"/>
                  <a:pt x="27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8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486" name=""/>
          <p:cNvSpPr/>
          <p:nvPr/>
        </p:nvSpPr>
        <p:spPr>
          <a:xfrm rot="0" flipH="0" flipV="0">
            <a:off x="9067800" y="1609725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9182100" y="1666875"/>
            <a:ext cx="104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/>
          </a:p>
        </p:txBody>
      </p:sp>
      <p:sp>
        <p:nvSpPr>
          <p:cNvPr id="488" name="" descr="{&quot;isTemplate&quot;:true,&quot;type&quot;:&quot;text&quot;}"/>
          <p:cNvSpPr txBox="1"/>
          <p:nvPr/>
        </p:nvSpPr>
        <p:spPr>
          <a:xfrm rot="0" flipH="0" flipV="0">
            <a:off x="9067800" y="2047875"/>
            <a:ext cx="2362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172A"/>
                </a:solidFill>
                <a:latin typeface="Microsoft YaHei"/>
                <a:ea typeface="Microsoft YaHei"/>
              </a:rPr>
              <a:t>可撤回</a:t>
            </a:r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067800" y="2371725"/>
            <a:ext cx="23622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授权可撤回、报告可删除；模型不可用时保留原始统计并提示稍后重试。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609600" y="5581650"/>
            <a:ext cx="10972800" cy="695325"/>
          </a:xfrm>
          <a:prstGeom prst="roundRect">
            <a:avLst>
              <a:gd name="adj" fmla="val 16438"/>
            </a:avLst>
          </a:prstGeom>
          <a:gradFill>
            <a:gsLst>
              <a:gs pos="0">
                <a:srgbClr val="0F766E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19150" y="5734050"/>
            <a:ext cx="105537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可靠性：</a:t>
            </a:r>
            <a:r>
              <a:rPr lang="en-US" sz="1275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分析严格「先算统计值、模型仅作解释」，输出与事实摘要核对不一致时不展示为确定结论；只发送必要字段，不含姓名、手机号等身份信息。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14B8A6"/>
                </a:solidFill>
                <a:latin typeface="Arial"/>
                <a:ea typeface="Arial"/>
              </a:rPr>
              <a:t>04 · FEASIBILITY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3067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四</a:t>
            </a:r>
            <a:r>
              <a:rPr lang="en-US" sz="24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可行性判定（一）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47700" y="1400175"/>
            <a:ext cx="3552825" cy="1857375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/>
        </p:spPr>
        <p:txBody>
          <a:bodyPr/>
          <a:p>
            <a:pPr/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47700" y="1400175"/>
            <a:ext cx="3552825" cy="1857375"/>
          </a:xfrm>
          <a:custGeom>
            <a:pathLst>
              <a:path w="373" h="19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87"/>
                </a:lnTo>
                <a:cubicBezTo>
                  <a:pt x="4" y="191"/>
                  <a:pt x="7" y="194"/>
                  <a:pt x="10" y="195"/>
                </a:cubicBezTo>
                <a:cubicBezTo>
                  <a:pt x="4" y="194"/>
                  <a:pt x="0" y="189"/>
                  <a:pt x="0" y="18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19150" y="1590675"/>
            <a:ext cx="3171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需求可行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19150" y="1943100"/>
            <a:ext cx="31718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8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个模块验收依据明确，功能边界已书面冻结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4352925" y="1400175"/>
            <a:ext cx="3562350" cy="1857375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/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4352925" y="1400175"/>
            <a:ext cx="3562350" cy="1857375"/>
          </a:xfrm>
          <a:custGeom>
            <a:pathLst>
              <a:path w="374" h="19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87"/>
                </a:lnTo>
                <a:cubicBezTo>
                  <a:pt x="4" y="191"/>
                  <a:pt x="7" y="194"/>
                  <a:pt x="10" y="195"/>
                </a:cubicBezTo>
                <a:cubicBezTo>
                  <a:pt x="4" y="194"/>
                  <a:pt x="0" y="189"/>
                  <a:pt x="0" y="18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524375" y="159067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技术基本可行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524375" y="1943100"/>
            <a:ext cx="31813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成熟技术栈为主，本地模型第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周前置验证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8067675" y="1400175"/>
            <a:ext cx="3552825" cy="1857375"/>
          </a:xfrm>
          <a:prstGeom prst="roundRect">
            <a:avLst>
              <a:gd name="adj" fmla="val 6154"/>
            </a:avLst>
          </a:prstGeom>
          <a:solidFill>
            <a:srgbClr val="13243B"/>
          </a:solidFill>
          <a:ln/>
        </p:spPr>
        <p:txBody>
          <a:bodyPr/>
          <a:p>
            <a:pPr/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8067675" y="1400175"/>
            <a:ext cx="3552825" cy="1857375"/>
          </a:xfrm>
          <a:custGeom>
            <a:pathLst>
              <a:path w="373" h="19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87"/>
                </a:lnTo>
                <a:cubicBezTo>
                  <a:pt x="4" y="191"/>
                  <a:pt x="7" y="194"/>
                  <a:pt x="10" y="195"/>
                </a:cubicBezTo>
                <a:cubicBezTo>
                  <a:pt x="4" y="194"/>
                  <a:pt x="0" y="189"/>
                  <a:pt x="0" y="18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239125" y="1590675"/>
            <a:ext cx="3171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经济可行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239125" y="1943100"/>
            <a:ext cx="31718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开源工具为主，货币支出约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元（文印）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647700" y="3429000"/>
            <a:ext cx="3552825" cy="2143125"/>
          </a:xfrm>
          <a:prstGeom prst="roundRect">
            <a:avLst>
              <a:gd name="adj" fmla="val 5333"/>
            </a:avLst>
          </a:prstGeom>
          <a:solidFill>
            <a:srgbClr val="13243B"/>
          </a:solidFill>
          <a:ln/>
        </p:spPr>
        <p:txBody>
          <a:bodyPr/>
          <a:p>
            <a:pPr/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647700" y="3429000"/>
            <a:ext cx="3552825" cy="2143125"/>
          </a:xfrm>
          <a:custGeom>
            <a:pathLst>
              <a:path w="373" h="2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17"/>
                </a:lnTo>
                <a:cubicBezTo>
                  <a:pt x="4" y="221"/>
                  <a:pt x="7" y="224"/>
                  <a:pt x="10" y="225"/>
                </a:cubicBezTo>
                <a:cubicBezTo>
                  <a:pt x="4" y="224"/>
                  <a:pt x="0" y="219"/>
                  <a:pt x="0" y="2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19150" y="3619500"/>
            <a:ext cx="3171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操作可行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19150" y="3971925"/>
            <a:ext cx="31718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一键分析不重复输入，管理员维护路径明确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352925" y="3429000"/>
            <a:ext cx="3562350" cy="2143125"/>
          </a:xfrm>
          <a:prstGeom prst="roundRect">
            <a:avLst>
              <a:gd name="adj" fmla="val 5333"/>
            </a:avLst>
          </a:prstGeom>
          <a:solidFill>
            <a:srgbClr val="13243B"/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352925" y="3429000"/>
            <a:ext cx="3562350" cy="2143125"/>
          </a:xfrm>
          <a:custGeom>
            <a:pathLst>
              <a:path w="374" h="2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17"/>
                </a:lnTo>
                <a:cubicBezTo>
                  <a:pt x="4" y="221"/>
                  <a:pt x="7" y="224"/>
                  <a:pt x="10" y="225"/>
                </a:cubicBezTo>
                <a:cubicBezTo>
                  <a:pt x="4" y="224"/>
                  <a:pt x="0" y="219"/>
                  <a:pt x="0" y="2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24375" y="3619500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进度（有条件）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24375" y="3971925"/>
            <a:ext cx="3181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关键路径清晰但工时无冗余，须冻结范围留缓冲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8067675" y="3429000"/>
            <a:ext cx="3552825" cy="2143125"/>
          </a:xfrm>
          <a:prstGeom prst="roundRect">
            <a:avLst>
              <a:gd name="adj" fmla="val 5333"/>
            </a:avLst>
          </a:prstGeom>
          <a:solidFill>
            <a:srgbClr val="13243B"/>
          </a:solidFill>
          <a:ln/>
        </p:spPr>
        <p:txBody>
          <a:bodyPr/>
          <a:p>
            <a:pPr/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8067675" y="3429000"/>
            <a:ext cx="3552825" cy="2143125"/>
          </a:xfrm>
          <a:custGeom>
            <a:pathLst>
              <a:path w="373" h="225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217"/>
                </a:lnTo>
                <a:cubicBezTo>
                  <a:pt x="4" y="221"/>
                  <a:pt x="7" y="224"/>
                  <a:pt x="10" y="225"/>
                </a:cubicBezTo>
                <a:cubicBezTo>
                  <a:pt x="4" y="224"/>
                  <a:pt x="0" y="219"/>
                  <a:pt x="0" y="213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239125" y="3619500"/>
            <a:ext cx="31718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法律可行（须落实）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8239125" y="3971925"/>
            <a:ext cx="31718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94A3B8"/>
                </a:solidFill>
                <a:latin typeface="Microsoft YaHei"/>
                <a:ea typeface="Microsoft YaHei"/>
              </a:rPr>
              <a:t>最小化收集、授权可撤回、报告可删除、</a:t>
            </a:r>
            <a:r>
              <a:rPr lang="en-US" sz="1200">
                <a:solidFill>
                  <a:srgbClr val="94A3B8"/>
                </a:solidFill>
                <a:latin typeface="Microsoft YaHei"/>
                <a:ea typeface="Microsoft YaHei"/>
              </a:rPr>
              <a:t>HTTPS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609600" y="5743575"/>
            <a:ext cx="10972800" cy="533400"/>
          </a:xfrm>
          <a:prstGeom prst="roundRect">
            <a:avLst>
              <a:gd name="adj" fmla="val 21429"/>
            </a:avLst>
          </a:prstGeom>
          <a:gradFill>
            <a:gsLst>
              <a:gs pos="0">
                <a:srgbClr val="0F766E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19150" y="5895975"/>
            <a:ext cx="71818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综合判定：总体可行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—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建议按《软件开发计划》启动执行，进度项须落实附加条件。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64748B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64748B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Arial"/>
                <a:ea typeface="Arial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04 · FEASIBILITY</a:t>
            </a:r>
            <a:r>
              <a:rPr lang="zh-CN" sz="1125" spc="225">
                <a:solidFill>
                  <a:srgbClr val="0EA5E9"/>
                </a:solidFill>
                <a:latin typeface="Arial"/>
                <a:ea typeface="Arial"/>
              </a:rPr>
              <a:t>（二）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3067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四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可行性判定（二）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09600" y="1362075"/>
            <a:ext cx="5410200" cy="1981200"/>
          </a:xfrm>
          <a:prstGeom prst="roundRect">
            <a:avLst>
              <a:gd name="adj" fmla="val 576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81050" y="151447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766E"/>
                </a:solidFill>
                <a:latin typeface="Microsoft YaHei"/>
                <a:ea typeface="Microsoft YaHei"/>
              </a:rPr>
              <a:t>经济与资源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81050" y="1809750"/>
            <a:ext cx="5067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开源工具为主，除可选域名与证书外无必须支出；主要投入为成员时间（约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280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人时），货币支出约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元（文印）。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172200" y="1362075"/>
            <a:ext cx="5410200" cy="1981200"/>
          </a:xfrm>
          <a:prstGeom prst="roundRect">
            <a:avLst>
              <a:gd name="adj" fmla="val 576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343650" y="151447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766E"/>
                </a:solidFill>
                <a:latin typeface="Microsoft YaHei"/>
                <a:ea typeface="Microsoft YaHei"/>
              </a:rPr>
              <a:t>操作与使用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343650" y="1809750"/>
            <a:ext cx="5067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一键分析不重复输入；管理员维护动作库与公共食物库路径明确，用户上手成本低。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3457575"/>
            <a:ext cx="5410200" cy="1981200"/>
          </a:xfrm>
          <a:prstGeom prst="roundRect">
            <a:avLst>
              <a:gd name="adj" fmla="val 576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781050" y="360997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766E"/>
                </a:solidFill>
                <a:latin typeface="Microsoft YaHei"/>
                <a:ea typeface="Microsoft YaHei"/>
              </a:rPr>
              <a:t>法律与伦理（须落实）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81050" y="3905250"/>
            <a:ext cx="5067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最小化收集、授权可撤回、报告可删除、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HTTPS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传输；部署前核对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Apache-2.0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许可并留档。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172200" y="3457575"/>
            <a:ext cx="5410200" cy="1981200"/>
          </a:xfrm>
          <a:prstGeom prst="roundRect">
            <a:avLst>
              <a:gd name="adj" fmla="val 5769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343650" y="3609975"/>
            <a:ext cx="5067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766E"/>
                </a:solidFill>
                <a:latin typeface="Microsoft YaHei"/>
                <a:ea typeface="Microsoft YaHei"/>
              </a:rPr>
              <a:t>进度（有条件可行）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343650" y="3905250"/>
            <a:ext cx="5067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关键路径清晰但工时无冗余，末段里程碑密集，须冻结范围并把第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周作为专用缓冲。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5553075"/>
            <a:ext cx="10972800" cy="762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0F766E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819150" y="5829300"/>
            <a:ext cx="2209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候选方案加权评分（</a:t>
            </a:r>
            <a:r>
              <a:rPr lang="en-US" sz="1350">
                <a:solidFill>
                  <a:srgbClr val="FFFFFF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分制）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3219450" y="5705475"/>
            <a:ext cx="742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F97316"/>
                </a:solidFill>
                <a:latin typeface="Arial"/>
                <a:ea typeface="Arial"/>
              </a:rPr>
              <a:t>4.70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4038600" y="5705475"/>
            <a:ext cx="67913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方案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1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（推荐）；方案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期限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风险占优但移动端功能符合度不足；方案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技能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工期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>/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私密性不满足。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182350" y="64865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04 · RISK &amp; CONCLUSION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27622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四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风险分析与结论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4476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766E"/>
                </a:solidFill>
                <a:latin typeface="Microsoft YaHei"/>
                <a:ea typeface="Microsoft YaHei"/>
              </a:rPr>
              <a:t>高风险</a:t>
            </a:r>
            <a:r>
              <a:rPr lang="en-US" sz="1425" b="1">
                <a:solidFill>
                  <a:srgbClr val="0F766E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425" b="1">
                <a:solidFill>
                  <a:srgbClr val="0F766E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1695450"/>
            <a:ext cx="4476750" cy="381000"/>
          </a:xfrm>
          <a:prstGeom prst="roundRect">
            <a:avLst>
              <a:gd name="adj" fmla="val 20000"/>
            </a:avLst>
          </a:prstGeom>
          <a:solidFill>
            <a:srgbClr val="FEF2E8"/>
          </a:solidFill>
          <a:ln/>
        </p:spPr>
        <p:txBody>
          <a:bodyPr/>
          <a:p>
            <a:pPr/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42950" y="184785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14400" y="179070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模型推理超时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输出不一致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2190750"/>
            <a:ext cx="4476750" cy="381000"/>
          </a:xfrm>
          <a:prstGeom prst="roundRect">
            <a:avLst>
              <a:gd name="adj" fmla="val 20000"/>
            </a:avLst>
          </a:prstGeom>
          <a:solidFill>
            <a:srgbClr val="FEF2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742950" y="234315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914400" y="2286000"/>
            <a:ext cx="1552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 xml:space="preserve">Android 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打包环境搭建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2686050"/>
            <a:ext cx="4476750" cy="381000"/>
          </a:xfrm>
          <a:prstGeom prst="roundRect">
            <a:avLst>
              <a:gd name="adj" fmla="val 20000"/>
            </a:avLst>
          </a:prstGeom>
          <a:solidFill>
            <a:srgbClr val="FEF2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742950" y="283845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914400" y="27813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两人四岗并行人力冲突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3181350"/>
            <a:ext cx="4476750" cy="381000"/>
          </a:xfrm>
          <a:prstGeom prst="roundRect">
            <a:avLst>
              <a:gd name="adj" fmla="val 20000"/>
            </a:avLst>
          </a:prstGeom>
          <a:solidFill>
            <a:srgbClr val="FEF2E8"/>
          </a:solidFill>
          <a:ln/>
        </p:spPr>
        <p:txBody>
          <a:bodyPr/>
          <a:p>
            <a:pPr/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742950" y="333375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14400" y="3276600"/>
            <a:ext cx="1466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统计与</a:t>
            </a:r>
            <a:r>
              <a:rPr lang="en-US" sz="1200">
                <a:solidFill>
                  <a:srgbClr val="9A3412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00">
                <a:solidFill>
                  <a:srgbClr val="9A3412"/>
                </a:solidFill>
                <a:latin typeface="Microsoft YaHei"/>
                <a:ea typeface="Microsoft YaHei"/>
              </a:rPr>
              <a:t>输出不一致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4476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EA5E9"/>
                </a:solidFill>
                <a:latin typeface="Microsoft YaHei"/>
                <a:ea typeface="Microsoft YaHei"/>
              </a:rPr>
              <a:t>中风险</a:t>
            </a:r>
            <a:r>
              <a:rPr lang="en-US" sz="1425" b="1">
                <a:solidFill>
                  <a:srgbClr val="0EA5E9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425" b="1">
                <a:solidFill>
                  <a:srgbClr val="0EA5E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09600" y="4067175"/>
            <a:ext cx="447675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742950" y="420052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14400" y="4143375"/>
            <a:ext cx="1828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0AF"/>
                </a:solidFill>
                <a:latin typeface="Microsoft YaHei"/>
                <a:ea typeface="Microsoft YaHei"/>
              </a:rPr>
              <a:t>后端为关键路径且负荷集中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09600" y="4524375"/>
            <a:ext cx="447675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742950" y="465772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>
            <a:pPr/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14400" y="4600575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0AF"/>
                </a:solidFill>
                <a:latin typeface="Microsoft YaHei"/>
                <a:ea typeface="Microsoft YaHei"/>
              </a:rPr>
              <a:t>公共食物库录入量大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609600" y="4981575"/>
            <a:ext cx="4476750" cy="342900"/>
          </a:xfrm>
          <a:prstGeom prst="roundRect">
            <a:avLst>
              <a:gd name="adj" fmla="val 22222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42950" y="5114925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>
            <a:pPr/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14400" y="50577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E40AF"/>
                </a:solidFill>
                <a:latin typeface="Microsoft YaHei"/>
                <a:ea typeface="Microsoft YaHei"/>
              </a:rPr>
              <a:t>需求蔓延</a:t>
            </a:r>
            <a:endParaRPr/>
          </a:p>
        </p:txBody>
      </p:sp>
      <p:sp>
        <p:nvSpPr>
          <p:cNvPr id="99" name=""/>
          <p:cNvSpPr/>
          <p:nvPr/>
        </p:nvSpPr>
        <p:spPr>
          <a:xfrm rot="0" flipH="0" flipV="0">
            <a:off x="5276850" y="1362075"/>
            <a:ext cx="6305550" cy="1181100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5448300" y="1514475"/>
            <a:ext cx="5962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172A"/>
                </a:solidFill>
                <a:latin typeface="Microsoft YaHei"/>
                <a:ea typeface="Microsoft YaHei"/>
              </a:rPr>
              <a:t>应对措施（三层）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5448300" y="1800225"/>
            <a:ext cx="59626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前置验证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降级兜底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专项验收：第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周模型接入、第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周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Android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空壳包；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先算后解释；第</a:t>
            </a:r>
            <a:r>
              <a:rPr lang="en-US" sz="1200">
                <a:solidFill>
                  <a:srgbClr val="47556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周缓冲专用不追加功能。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276850" y="2676525"/>
            <a:ext cx="6305550" cy="3638550"/>
          </a:xfrm>
          <a:prstGeom prst="roundRect">
            <a:avLst>
              <a:gd name="adj" fmla="val 3141"/>
            </a:avLst>
          </a:prstGeom>
          <a:gradFill>
            <a:gsLst>
              <a:gs pos="0">
                <a:srgbClr val="0F766E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448300" y="4000500"/>
            <a:ext cx="5962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5448300" y="4324350"/>
            <a:ext cx="59626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FFFFFF"/>
                </a:solidFill>
                <a:latin typeface="Microsoft YaHei"/>
                <a:ea typeface="Microsoft YaHei"/>
              </a:rPr>
              <a:t>项目可行，建议按开发计划启动执行。附加条件：冻结范围，新增需求须评估顺延安排与责任人；残余风险总体可控，不构成对可行性的实质障碍。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7" name="" descr="&lt;Slide&gt;&#13;&#10;  &lt;Box style={{ flex: 1, padding: '16px 40px 14px', flexDirection: 'column', background: '#FFFFFF' }}&gt;&#13;&#10;    &lt;Box style={{ flexDirection: 'row', alignItems: 'center', justifyContent: 'space-between', marginBottom: 8 }}&gt;&#13;&#10;      &lt;Box style={{ flexDirection: 'row', alignItems: 'baseline', gap: 12 }}&gt;&#13;&#10;        &lt;Text style={{ fontSize: 30, fontWeight: 'bold', color: '#0F172A', fontFamily: &quot;'Microsoft YaHei', sans-serif&quot; }}&gt;05&lt;/Text&gt;&#13;&#10;        &lt;Text style={{ fontSize: 22, fontWeight: 'bold', color: '#0F766E', fontFamily: &quot;'Microsoft YaHei', sans-serif&quot; }}&gt;项目计划与实施 · WBS 工作分解结构&lt;/Text&gt;&#13;&#10;      &lt;/Box&gt;&#13;&#10;      &lt;Text style={{ fontSize: 13, color: '#94A3B8', fontFamily: &quot;'Microsoft YaHei', sans-serif&quot; }}&gt;瀑布模型 · 7 阶段 / 28 人时 / 14 周&lt;/Text&gt;&#13;&#10;    &lt;/Box&gt;&#13;&#10;    &lt;Box style={{ flex: 1, alignItems: 'center', justifyContent: 'center' }}&gt;&#13;&#10;&lt;svg width='1140' height='626' viewBox='0 0 1180 648' style={{ display: 'block' }}&gt;&#13;&#10;&lt;rect x='20' y='10' width='858' height='76' rx='12' fill='#115E59' /&gt;&#13;&#10;&lt;circle cx='50' cy='48' r='20' fill='#ffffff' fillOpacity='0.22' /&gt;&#13;&#10;&lt;text x='50' y='55' textAnchor='middle' style={{ fontFamily: &quot;'Microsoft YaHei', sans-serif&quot;, fontSize: 17, fontWeight: 'bold', fill: &quot;#ffffff&quot; }}&gt;1&lt;/text&gt;&#13;&#10;&lt;text x='82' y='40' textAnchor='start' style={{ fontFamily: &quot;'Microsoft YaHei', sans-serif&quot;, fontSize: 17, fontWeight: 'bold', fill: &quot;#ffffff&quot; }}&gt;需求冻结与技术准备&lt;/text&gt;&#13;&#10;&lt;text x='82' y='65' textAnchor='start' style={{ fontFamily: &quot;'Microsoft YaHei', sans-serif&quot;, fontSize: 12.5, fill: &quot;#e6f6f2&quot; }}&gt;W1–W2 · 09.28–10.11&lt;/text&gt;&#13;&#10;&lt;rect x='270' y='33' width='140' height='30' rx='7' fill='#ffffff' fillOpacity='0.16' stroke='#ffffff' strokeOpacity='0.35' strokeWidth='1' /&gt;&#13;&#10;&lt;text x='340.0' y='52' textAnchor='middle' style={{ fontFamily: &quot;'Microsoft YaHei', sans-serif&quot;, fontSize: 12.5, fill: &quot;#ffffff&quot; }}&gt;需求确认与冻结&lt;/text&gt;&#13;&#10;&lt;rect x='420' y='33' width='140' height='30' rx='7' fill='#ffffff' fillOpacity='0.16' stroke='#ffffff' strokeOpacity='0.35' strokeWidth='1' /&gt;&#13;&#10;&lt;text x='490.0' y='52' textAnchor='middle' style={{ fontFamily: &quot;'Microsoft YaHei', sans-serif&quot;, fontSize: 12.5, fill: &quot;#ffffff&quot; }}&gt;原型草图&lt;/text&gt;&#13;&#10;&lt;rect x='570' y='33' width='140' height='30' rx='7' fill='#ffffff' fillOpacity='0.16' stroke='#ffffff' strokeOpacity='0.35' strokeWidth='1' /&gt;&#13;&#10;&lt;text x='640.0' y='52' textAnchor='middle' style={{ fontFamily: &quot;'Microsoft YaHei', sans-serif&quot;, fontSize: 12.5, fill: &quot;#ffffff&quot; }}&gt;表结构与接口&lt;/text&gt;&#13;&#10;&lt;rect x='720' y='33' width='140' height='30' rx='7' fill='#ffffff' fillOpacity='0.16' stroke='#ffffff' strokeOpacity='0.35' strokeWidth='1' /&gt;&#13;&#10;&lt;text x='790.0' y='52' textAnchor='middle' style={{ fontFamily: &quot;'Microsoft YaHei', sans-serif&quot;, fontSize: 12.5, fill: &quot;#ffffff&quot; }}&gt;环境搭建与版本锁定&lt;/text&gt;&#13;&#10;&lt;rect x='978' y='20' width='188' height='56' rx='10' fill='#FFF7ED' stroke='#F97316' strokeWidth='1.5' /&gt;&#13;&#10;&lt;text x='1072' y='46' textAnchor='middle' style={{ fontFamily: &quot;'Microsoft YaHei', sans-serif&quot;, fontSize: 15, fontWeight: 'bold', fill: &quot;#ea580c&quot; }}&gt;里程碑 M1&lt;/text&gt;&#13;&#10;&lt;text x='1072' y='68' textAnchor='middle' style={{ fontFamily: &quot;'Microsoft YaHei', sans-serif&quot;, fontSize: 15, fontWeight: 'bold', fill: &quot;#0f172a&quot; }}&gt;10.11&lt;/text&gt;&#13;&#10;&lt;line x1='449' y1='89' x2='449' y2='97' stroke='#94A3B8' strokeWidth='2' /&gt;&#13;&#10;&lt;polygon points='444,88 454,88 449,97' fill='#94A3B8' /&gt;&#13;&#10;&lt;rect x='34' y='100' width='858' height='76' rx='12' fill='#0F766E' /&gt;&#13;&#10;&lt;circle cx='64' cy='138' r='20' fill='#ffffff' fillOpacity='0.22' /&gt;&#13;&#10;&lt;text x='64' y='145' textAnchor='middle' style={{ fontFamily: &quot;'Microsoft YaHei', sans-serif&quot;, fontSize: 17, fontWeight: 'bold', fill: &quot;#ffffff&quot; }}&gt;2&lt;/text&gt;&#13;&#10;&lt;text x='96' y='130' textAnchor='start' style={{ fontFamily: &quot;'Microsoft YaHei', sans-serif&quot;, fontSize: 17, fontWeight: 'bold', fill: &quot;#ffffff&quot; }}&gt;数据层与后端核心&lt;/text&gt;&#13;&#10;&lt;text x='96' y='155' textAnchor='start' style={{ fontFamily: &quot;'Microsoft YaHei', sans-serif&quot;, fontSize: 12.5, fill: &quot;#e6f6f2&quot; }}&gt;W2–W4 · 10.05–10.25&lt;/text&gt;&#13;&#10;&lt;rect x='284' y='123' width='140' height='30' rx='7' fill='#ffffff' fillOpacity='0.16' stroke='#ffffff' strokeOpacity='0.35' strokeWidth='1' /&gt;&#13;&#10;&lt;text x='354.0' y='142' textAnchor='middle' style={{ fontFamily: &quot;'Microsoft YaHei', sans-serif&quot;, fontSize: 12.5, fill: &quot;#ffffff&quot; }}&gt;数据库建表与索引&lt;/text&gt;&#13;&#10;&lt;rect x='434' y='123' width='140' height='30' rx='7' fill='#ffffff' fillOpacity='0.16' stroke='#ffffff' strokeOpacity='0.35' strokeWidth='1' /&gt;&#13;&#10;&lt;text x='504.0' y='142' textAnchor='middle' style={{ fontFamily: &quot;'Microsoft YaHei', sans-serif&quot;, fontSize: 12.5, fill: &quot;#ffffff&quot; }}&gt;注册登录鉴权&lt;/text&gt;&#13;&#10;&lt;rect x='584' y='123' width='140' height='30' rx='7' fill='#ffffff' fillOpacity='0.16' stroke='#ffffff' strokeOpacity='0.35' strokeWidth='1' /&gt;&#13;&#10;&lt;text x='654.0' y='142' textAnchor='middle' style={{ fontFamily: &quot;'Microsoft YaHei', sans-serif&quot;, fontSize: 12.5, fill: &quot;#ffffff&quot; }}&gt;业务接口开发&lt;/text&gt;&#13;&#10;&lt;rect x='734' y='123' width='140' height='30' rx='7' fill='#ffffff' fillOpacity='0.16' stroke='#ffffff' strokeOpacity='0.35' strokeWidth='1' /&gt;&#13;&#10;&lt;text x='804.0' y='142' textAnchor='middle' style={{ fontFamily: &quot;'Microsoft YaHei', sans-serif&quot;, fontSize: 12.5, fill: &quot;#ffffff&quot; }}&gt;统计接口与口径&lt;/text&gt;&#13;&#10;&lt;rect x='978' y='110' width='188' height='56' rx='10' fill='#FFF7ED' stroke='#F97316' strokeWidth='1.5' /&gt;&#13;&#10;&lt;text x='1072' y='136' textAnchor='middle' style={{ fontFamily: &quot;'Microsoft YaHei', sans-serif&quot;, fontSize: 15, fontWeight: 'bold', fill: &quot;#ea580c&quot; }}&gt;里程碑 M2&lt;/text&gt;&#13;&#10;&lt;text x='1072' y='158' textAnchor='middle' style={{ fontFamily: &quot;'Microsoft YaHei', sans-serif&quot;, fontSize: 15, fontWeight: 'bold', fill: &quot;#0f172a&quot; }}&gt;10.25&lt;/text&gt;&#13;&#10;&lt;line x1='463' y1='179' x2='463' y2='187' stroke='#94A3B8' strokeWidth='2' /&gt;&#13;&#10;&lt;polygon points='458,178 468,178 463,187' fill='#94A3B8' /&gt;&#13;&#10;&lt;rect x='48' y='190' width='858' height='76' rx='12' fill='#0D9488' /&gt;&#13;&#10;&lt;circle cx='78' cy='228' r='20' fill='#ffffff' fillOpacity='0.22' /&gt;&#13;&#10;&lt;text x='78' y='235' textAnchor='middle' style={{ fontFamily: &quot;'Microsoft YaHei', sans-serif&quot;, fontSize: 17, fontWeight: 'bold', fill: &quot;#ffffff&quot; }}&gt;3&lt;/text&gt;&#13;&#10;&lt;text x='110' y='220' textAnchor='start' style={{ fontFamily: &quot;'Microsoft YaHei', sans-serif&quot;, fontSize: 17, fontWeight: 'bold', fill: &quot;#ffffff&quot; }}&gt;前端页面与图表&lt;/text&gt;&#13;&#10;&lt;text x='110' y='245' textAnchor='start' style={{ fontFamily: &quot;'Microsoft YaHei', sans-serif&quot;, fontSize: 12.5, fill: &quot;#e6f6f2&quot; }}&gt;W4–W6 · 10.19–11.08&lt;/text&gt;&#13;&#10;&lt;rect x='298' y='213' width='140' height='30' rx='7' fill='#ffffff' fillOpacity='0.16' stroke='#ffffff' strokeOpacity='0.35' strokeWidth='1' /&gt;&#13;&#10;&lt;text x='368.0' y='232' textAnchor='middle' style={{ fontFamily: &quot;'Microsoft YaHei', sans-serif&quot;, fontSize: 12.5, fill: &quot;#ffffff&quot; }}&gt;录入与设置页&lt;/text&gt;&#13;&#10;&lt;rect x='448' y='213' width='140' height='30' rx='7' fill='#ffffff' fillOpacity='0.16' stroke='#ffffff' strokeOpacity='0.35' strokeWidth='1' /&gt;&#13;&#10;&lt;text x='518.0' y='232' textAnchor='middle' style={{ fontFamily: &quot;'Microsoft YaHei', sans-serif&quot;, fontSize: 12.5, fill: &quot;#ffffff&quot; }}&gt;体重记录页&lt;/text&gt;&#13;&#10;&lt;rect x='598' y='213' width='140' height='30' rx='7' fill='#ffffff' fillOpacity='0.16' stroke='#ffffff' strokeOpacity='0.35' strokeWidth='1' /&gt;&#13;&#10;&lt;text x='629.7' y='232' textAnchor='start' style={{ fontFamily: &quot;'Microsoft YaHei', sans-serif&quot;, fontSize: 12.5, fill: &quot;#ffffff&quot; }}&gt;ECharts&lt;/text&gt;&#13;&#10;&lt;text x='681.3000000000001' y='232' textAnchor='start' style={{ fontFamily: &quot;'Microsoft YaHei', sans-serif&quot;, fontSize: 12.5, fill: &quot;#ffffff&quot; }}&gt;图表&lt;/text&gt;&#13;&#10;&lt;rect x='748' y='213' width='140' height='30' rx='7' fill='#ffffff' fillOpacity='0.16' stroke='#ffffff' strokeOpacity='0.35' strokeWidth='1' /&gt;&#13;&#10;&lt;text x='818.0' y='232' textAnchor='middle' style={{ fontFamily: &quot;'Microsoft YaHei', sans-serif&quot;, fontSize: 12.5, fill: &quot;#ffffff&quot; }}&gt;后台管理页&lt;/text&gt;&#13;&#10;&lt;rect x='978' y='200' width='188' height='56' rx='10' fill='#FFF7ED' stroke='#F97316' strokeWidth='1.5' /&gt;&#13;&#10;&lt;text x='1072' y='226' textAnchor='middle' style={{ fontFamily: &quot;'Microsoft YaHei', sans-serif&quot;, fontSize: 15, fontWeight: 'bold', fill: &quot;#ea580c&quot; }}&gt;里程碑 M3&lt;/text&gt;&#13;&#10;&lt;text x='1072' y='248' textAnchor='middle' style={{ fontFamily: &quot;'Microsoft YaHei', sans-serif&quot;, fontSize: 15, fontWeight: 'bold', fill: &quot;#0f172a&quot; }}&gt;11.08&lt;/text&gt;&#13;&#10;&lt;line x1='477' y1='269' x2='477' y2='277' stroke='#94A3B8' strokeWidth='2' /&gt;&#13;&#10;&lt;polygon points='472,268 482,268 477,277' fill='#94A3B8' /&gt;&#13;&#10;&lt;rect x='62' y='280' width='858' height='76' rx='12' fill='#0891B2' /&gt;&#13;&#10;&lt;circle cx='92' cy='318' r='20' fill='#ffffff' fillOpacity='0.22' /&gt;&#13;&#10;&lt;text x='92' y='325' textAnchor='middle' style={{ fontFamily: &quot;'Microsoft YaHei', sans-serif&quot;, fontSize: 17, fontWeight: 'bold', fill: &quot;#ffffff&quot; }}&gt;4&lt;/text&gt;&#13;&#10;&lt;text x='124' y='310' textAnchor='start' style={{ fontFamily: &quot;'Microsoft YaHei', sans-serif&quot;, fontSize: 17, fontWeight: 'bold', fill: &quot;#ffffff&quot; }}&gt;AI&lt;/text&gt;&#13;&#10;&lt;text x='150' y='310' textAnchor='start' style={{ fontFamily: &quot;'Microsoft YaHei', sans-serif&quot;, fontSize: 17, fontWeight: 'bold', fill: &quot;#ffffff&quot; }}&gt;分析模块&lt;/text&gt;&#13;&#10;&lt;text x='124' y='335' textAnchor='start' style={{ fontFamily: &quot;'Microsoft YaHei', sans-serif&quot;, fontSize: 12.5, fill: &quot;#e6f6f2&quot; }}&gt;W7–W9 · 11.09–11.29&lt;/text&gt;&#13;&#10;&lt;rect x='312' y='303' width='140' height='30' rx='7' fill='#ffffff' fillOpacity='0.16' stroke='#ffffff' strokeOpacity='0.35' strokeWidth='1' /&gt;&#13;&#10;&lt;text x='382.0' y='322' textAnchor='middle' style={{ fontFamily: &quot;'Microsoft YaHei', sans-serif&quot;, fontSize: 12.5, fill: &quot;#ffffff&quot; }}&gt;授权与数据汇总&lt;/text&gt;&#13;&#10;&lt;rect x='462' y='303' width='140' height='30' rx='7' fill='#ffffff' fillOpacity='0.16' stroke='#ffffff' strokeOpacity='0.35' strokeWidth='1' /&gt;&#13;&#10;&lt;text x='532.0' y='322' textAnchor='middle' style={{ fontFamily: &quot;'Microsoft YaHei', sans-serif&quot;, fontSize: 12.5, fill: &quot;#ffffff&quot; }}&gt;模型接口对接&lt;/text&gt;&#13;&#10;&lt;rect x='612' y='303' width='140' height='30' rx='7' fill='#ffffff' fillOpacity='0.16' stroke='#ffffff' strokeOpacity='0.35' strokeWidth='1' /&gt;&#13;&#10;&lt;text x='682.0' y='322' textAnchor='middle' style={{ fontFamily: &quot;'Microsoft YaHei', sans-serif&quot;, fontSize: 12.5, fill: &quot;#ffffff&quot; }}&gt;报告生成查看&lt;/text&gt;&#13;&#10;&lt;rect x='762' y='303' width='140' height='30' rx='7' fill='#ffffff' fillOpacity='0.16' stroke='#ffffff' strokeOpacity='0.35' strokeWidth='1' /&gt;&#13;&#10;&lt;text x='832.0' y='322' textAnchor='middle' style={{ fontFamily: &quot;'Microsoft YaHei', sans-serif&quot;, fontSize: 12.5, fill: &quot;#ffffff&quot; }}&gt;一致性核对降级&lt;/text&gt;&#13;&#10;&lt;rect x='978' y='290' width='188' height='56' rx='10' fill='#FFF7ED' stroke='#F97316' strokeWidth='1.5' /&gt;&#13;&#10;&lt;text x='1072' y='316' textAnchor='middle' style={{ fontFamily: &quot;'Microsoft YaHei', sans-serif&quot;, fontSize: 15, fontWeight: 'bold', fill: &quot;#ea580c&quot; }}&gt;里程碑 M4&lt;/text&gt;&#13;&#10;&lt;text x='1072' y='338' textAnchor='middle' style={{ fontFamily: &quot;'Microsoft YaHei', sans-serif&quot;, fontSize: 15, fontWeight: 'bold', fill: &quot;#0f172a&quot; }}&gt;11.29&lt;/text&gt;&#13;&#10;&lt;line x1='491' y1='359' x2='491' y2='367' stroke='#94A3B8' strokeWidth='2' /&gt;&#13;&#10;&lt;polygon points='486,358 496,358 491,367' fill='#94A3B8' /&gt;&#13;&#10;&lt;rect x='76' y='370' width='858' height='76' rx='12' fill='#0284C7' /&gt;&#13;&#10;&lt;circle cx='106' cy='408' r='20' fill='#ffffff' fillOpacity='0.22' /&gt;&#13;&#10;&lt;text x='106' y='415' textAnchor='middle' style={{ fontFamily: &quot;'Microsoft YaHei', sans-serif&quot;, fontSize: 17, fontWeight: 'bold', fill: &quot;#ffffff&quot; }}&gt;5&lt;/text&gt;&#13;&#10;&lt;text x='138' y='400' textAnchor='start' style={{ fontFamily: &quot;'Microsoft YaHei', sans-serif&quot;, fontSize: 17, fontWeight: 'bold', fill: &quot;#ffffff&quot; }}&gt;移动端 Android 封装&lt;/text&gt;&#13;&#10;&lt;text x='138' y='425' textAnchor='start' style={{ fontFamily: &quot;'Microsoft YaHei', sans-serif&quot;, fontSize: 12.5, fill: &quot;#e6f6f2&quot; }}&gt;W8–W10 · 11.16–12.02&lt;/text&gt;&#13;&#10;&lt;rect x='326' y='393' width='140' height='30' rx='7' fill='#ffffff' fillOpacity='0.16' stroke='#ffffff' strokeOpacity='0.35' strokeWidth='1' /&gt;&#13;&#10;&lt;text x='396.0' y='412' textAnchor='middle' style={{ fontFamily: &quot;'Microsoft YaHei', sans-serif&quot;, fontSize: 12.5, fill: &quot;#ffffff&quot; }}&gt;手机布局适配&lt;/text&gt;&#13;&#10;&lt;rect x='476' y='393' width='140' height='30' rx='7' fill='#ffffff' fillOpacity='0.16' stroke='#ffffff' strokeOpacity='0.35' strokeWidth='1' /&gt;&#13;&#10;&lt;text x='494.65' y='412' textAnchor='start' style={{ fontFamily: &quot;'Microsoft YaHei', sans-serif&quot;, fontSize: 12.5, fill: &quot;#ffffff&quot; }}&gt;Capacitor&lt;/text&gt;&#13;&#10;&lt;text x='559.85' y='412' textAnchor='start' style={{ fontFamily: &quot;'Microsoft YaHei', sans-serif&quot;, fontSize: 12.5, fill: &quot;#ffffff&quot; }}&gt;空壳包&lt;/text&gt;&#13;&#10;&lt;rect x='626' y='393' width='140' height='30' rx='7' fill='#ffffff' fillOpacity='0.16' stroke='#ffffff' strokeOpacity='0.35' strokeWidth='1' /&gt;&#13;&#10;&lt;text x='696.0' y='412' textAnchor='middle' style={{ fontFamily: &quot;'Microsoft YaHei', sans-serif&quot;, fontSize: 12.5, fill: &quot;#ffffff&quot; }}&gt;真机调试&lt;/text&gt;&#13;&#10;&lt;rect x='776' y='393' width='140' height='30' rx='7' fill='#ffffff' fillOpacity='0.16' stroke='#ffffff' strokeOpacity='0.35' strokeWidth='1' /&gt;&#13;&#10;&lt;text x='846.0' y='412' textAnchor='middle' style={{ fontFamily: &quot;'Microsoft YaHei', sans-serif&quot;, fontSize: 12.5, fill: &quot;#ffffff&quot; }}&gt;最初成品 APK&lt;/text&gt;&#13;&#10;&lt;rect x='978' y='380' width='188' height='56' rx='10' fill='#FFF7ED' stroke='#F97316' strokeWidth='1.5' /&gt;&#13;&#10;&lt;text x='1072' y='406' textAnchor='middle' style={{ fontFamily: &quot;'Microsoft YaHei', sans-serif&quot;, fontSize: 15, fontWeight: 'bold', fill: &quot;#ea580c&quot; }}&gt;里程碑 M5&lt;/text&gt;&#13;&#10;&lt;text x='1072' y='428' textAnchor='middle' style={{ fontFamily: &quot;'Microsoft YaHei', sans-serif&quot;, fontSize: 15, fontWeight: 'bold', fill: &quot;#0f172a&quot; }}&gt;12.02&lt;/text&gt;&#13;&#10;&lt;line x1='505' y1='449' x2='505' y2='457' stroke='#94A3B8' strokeWidth='2' /&gt;&#13;&#10;&lt;polygon points='500,448 510,448 505,457' fill='#94A3B8' /&gt;&#13;&#10;&lt;rect x='90' y='460' width='858' height='76' rx='12' fill='#2563EB' /&gt;&#13;&#10;&lt;circle cx='120' cy='498' r='20' fill='#ffffff' fillOpacity='0.22' /&gt;&#13;&#10;&lt;text x='120' y='505' textAnchor='middle' style={{ fontFamily: &quot;'Microsoft YaHei', sans-serif&quot;, fontSize: 17, fontWeight: 'bold', fill: &quot;#ffffff&quot; }}&gt;6&lt;/text&gt;&#13;&#10;&lt;text x='152' y='490' textAnchor='start' style={{ fontFamily: &quot;'Microsoft YaHei', sans-serif&quot;, fontSize: 17, fontWeight: 'bold', fill: &quot;#ffffff&quot; }}&gt;集成测试与验收&lt;/text&gt;&#13;&#10;&lt;text x='152' y='515' textAnchor='start' style={{ fontFamily: &quot;'Microsoft YaHei', sans-serif&quot;, fontSize: 12.5, fill: &quot;#e6f6f2&quot; }}&gt;W10–W12 · 12.03–12.20&lt;/text&gt;&#13;&#10;&lt;rect x='340' y='483' width='140' height='30' rx='7' fill='#ffffff' fillOpacity='0.16' stroke='#ffffff' strokeOpacity='0.35' strokeWidth='1' /&gt;&#13;&#10;&lt;text x='410.0' y='502' textAnchor='middle' style={{ fontFamily: &quot;'Microsoft YaHei', sans-serif&quot;, fontSize: 12.5, fill: &quot;#ffffff&quot; }}&gt;功能用例执行&lt;/text&gt;&#13;&#10;&lt;rect x='490' y='483' width='140' height='30' rx='7' fill='#ffffff' fillOpacity='0.16' stroke='#ffffff' strokeOpacity='0.35' strokeWidth='1' /&gt;&#13;&#10;&lt;text x='560.0' y='502' textAnchor='middle' style={{ fontFamily: &quot;'Microsoft YaHei', sans-serif&quot;, fontSize: 12.5, fill: &quot;#ffffff&quot; }}&gt;跨账号隔离验收&lt;/text&gt;&#13;&#10;&lt;rect x='640' y='483' width='140' height='30' rx='7' fill='#ffffff' fillOpacity='0.16' stroke='#ffffff' strokeOpacity='0.35' strokeWidth='1' /&gt;&#13;&#10;&lt;text x='710.0' y='502' textAnchor='middle' style={{ fontFamily: &quot;'Microsoft YaHei', sans-serif&quot;, fontSize: 12.5, fill: &quot;#ffffff&quot; }}&gt;缺陷复测回归&lt;/text&gt;&#13;&#10;&lt;rect x='790' y='483' width='140' height='30' rx='7' fill='#ffffff' fillOpacity='0.16' stroke='#ffffff' strokeOpacity='0.35' strokeWidth='1' /&gt;&#13;&#10;&lt;text x='860.0' y='502' textAnchor='middle' style={{ fontFamily: &quot;'Microsoft YaHei', sans-serif&quot;, fontSize: 12.5, fill: &quot;#ffffff&quot; }}&gt;性能稳定性检查&lt;/text&gt;&#13;&#10;&lt;rect x='978' y='470' width='188' height='56' rx='10' fill='#FFF7ED' stroke='#F97316' strokeWidth='1.5' /&gt;&#13;&#10;&lt;text x='1072' y='496' textAnchor='middle' style={{ fontFamily: &quot;'Microsoft YaHei', sans-serif&quot;, fontSize: 15, fontWeight: 'bold', fill: &quot;#ea580c&quot; }}&gt;里程碑 M6&lt;/text&gt;&#13;&#10;&lt;text x='1072' y='518' textAnchor='middle' style={{ fontFamily: &quot;'Microsoft YaHei', sans-serif&quot;, fontSize: 15, fontWeight: 'bold', fill: &quot;#0f172a&quot; }}&gt;12.20&lt;/text&gt;&#13;&#10;&lt;line x1='519' y1='539' x2='519' y2='547' stroke='#94A3B8' strokeWidth='2' /&gt;&#13;&#10;&lt;polygon points='514,538 524,538 519,547' fill='#94A3B8' /&gt;&#13;&#10;&lt;rect x='104' y='550' width='858' height='76' rx='12' fill='#4F46E5' /&gt;&#13;&#10;&lt;circle cx='134' cy='588' r='20' fill='#ffffff' fillOpacity='0.22' /&gt;&#13;&#10;&lt;text x='134' y='595' textAnchor='middle' style={{ fontFamily: &quot;'Microsoft YaHei', sans-serif&quot;, fontSize: 17, fontWeight: 'bold', fill: &quot;#ffffff&quot; }}&gt;7&lt;/text&gt;&#13;&#10;&lt;text x='166' y='580' textAnchor='start' style={{ fontFamily: &quot;'Microsoft YaHei', sans-serif&quot;, fontSize: 17, fontWeight: 'bold', fill: &quot;#ffffff&quot; }}&gt;验收答辩&lt;/text&gt;&#13;&#10;&lt;text x='166' y='605' textAnchor='start' style={{ fontFamily: &quot;'Microsoft YaHei', sans-serif&quot;, fontSize: 12.5, fill: &quot;#e6f6f2&quot; }}&gt;W13–W14 · 12.21–12.30&lt;/text&gt;&#13;&#10;&lt;rect x='354' y='573' width='140' height='30' rx='7' fill='#ffffff' fillOpacity='0.16' stroke='#ffffff' strokeOpacity='0.35' strokeWidth='1' /&gt;&#13;&#10;&lt;text x='424.0' y='592' textAnchor='middle' style={{ fontFamily: &quot;'Microsoft YaHei', sans-serif&quot;, fontSize: 12.5, fill: &quot;#ffffff&quot; }}&gt;使用说明文档&lt;/text&gt;&#13;&#10;&lt;rect x='504' y='573' width='140' height='30' rx='7' fill='#ffffff' fillOpacity='0.16' stroke='#ffffff' strokeOpacity='0.35' strokeWidth='1' /&gt;&#13;&#10;&lt;text x='574.0' y='592' textAnchor='middle' style={{ fontFamily: &quot;'Microsoft YaHei', sans-serif&quot;, fontSize: 12.5, fill: &quot;#ffffff&quot; }}&gt;部署文档&lt;/text&gt;&#13;&#10;&lt;rect x='654' y='573' width='140' height='30' rx='7' fill='#ffffff' fillOpacity='0.16' stroke='#ffffff' strokeOpacity='0.35' strokeWidth='1' /&gt;&#13;&#10;&lt;text x='724.0' y='592' textAnchor='middle' style={{ fontFamily: &quot;'Microsoft YaHei', sans-serif&quot;, fontSize: 12.5, fill: &quot;#ffffff&quot; }}&gt;答辩材料&lt;/text&gt;&#13;&#10;&lt;rect x='804' y='573' width='140' height='30' rx='7' fill='#ffffff' fillOpacity='0.16' stroke='#ffffff' strokeOpacity='0.35' strokeWidth='1' /&gt;&#13;&#10;&lt;text x='874.0' y='592' textAnchor='middle' style={{ fontFamily: &quot;'Microsoft YaHei', sans-serif&quot;, fontSize: 12.5, fill: &quot;#ffffff&quot; }}&gt;结项归档&lt;/text&gt;&#13;&#10;&lt;rect x='978' y='560' width='188' height='56' rx='10' fill='#FFF7ED' stroke='#F97316' strokeWidth='1.5' /&gt;&#13;&#10;&lt;text x='1072' y='586' textAnchor='middle' style={{ fontFamily: &quot;'Microsoft YaHei', sans-serif&quot;, fontSize: 15, fontWeight: 'bold', fill: &quot;#ea580c&quot; }}&gt;里程碑 M7&lt;/text&gt;&#13;&#10;&lt;text x='1072' y='608' textAnchor='middle' style={{ fontFamily: &quot;'Microsoft YaHei', sans-serif&quot;, fontSize: 15, fontWeight: 'bold', fill: &quot;#0f172a&quot; }}&gt;12.30&lt;/text&gt;&#13;&#10;&lt;text x='20' y='642' textAnchor='start' style={{ fontFamily: &quot;'Microsoft YaHei', sans-serif&quot;, fontSize: 12, fill: &quot;#64748b&quot; }}&gt;图例：彩色条带 = 7 个瀑布阶段（自上而下逐级递进）；右侧橙色 = 对应里程碑 M1–M7。WBS 分解到 4 个可交付工作包/阶段。&lt;/text&gt;&#13;&#10;&lt;/svg&gt;&#13;&#10;    &lt;/Box&gt;&#13;&#10;  &lt;/Box&gt;&#13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81000" y="152400"/>
            <a:ext cx="3619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0F172A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57250" y="152400"/>
            <a:ext cx="3505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766E"/>
                </a:solidFill>
                <a:latin typeface="Microsoft YaHei"/>
                <a:ea typeface="Microsoft YaHei"/>
              </a:rPr>
              <a:t>项目计划与实施</a:t>
            </a:r>
            <a:r>
              <a:rPr lang="en-US" sz="1650" b="1">
                <a:solidFill>
                  <a:srgbClr val="0F766E"/>
                </a:solidFill>
                <a:latin typeface="Microsoft YaHei"/>
                <a:ea typeface="Microsoft YaHei"/>
              </a:rPr>
              <a:t xml:space="preserve"> · WBS </a:t>
            </a:r>
            <a:r>
              <a:rPr lang="zh-CN" sz="1650" b="1">
                <a:solidFill>
                  <a:srgbClr val="0F766E"/>
                </a:solidFill>
                <a:latin typeface="Microsoft YaHei"/>
                <a:ea typeface="Microsoft YaHei"/>
              </a:rPr>
              <a:t>工作分解结构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867900" y="247650"/>
            <a:ext cx="1943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瀑布模型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7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阶段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28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人时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/ 14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pic>
        <p:nvPicPr>
          <p:cNvPr id="11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66750" y="666750"/>
            <a:ext cx="10858500" cy="5962650"/>
          </a:xfrm>
          <a:prstGeom prst="rect">
            <a:avLst/>
          </a:prstGeom>
          <a:ln/>
        </p:spPr>
      </p:pic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05 · PLAN &amp; MILESTONES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30670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五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进度安排与里程碑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2952750"/>
            <a:ext cx="12573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0F766E"/>
                </a:solidFill>
                <a:latin typeface="Arial"/>
                <a:ea typeface="Arial"/>
              </a:rPr>
              <a:t>14</a:t>
            </a:r>
            <a:r>
              <a:rPr lang="en-US" sz="2250" b="1">
                <a:solidFill>
                  <a:srgbClr val="475569"/>
                </a:solidFill>
                <a:latin typeface="Arial"/>
                <a:ea typeface="Arial"/>
              </a:rPr>
              <a:t xml:space="preserve"> </a:t>
            </a:r>
            <a:r>
              <a:rPr lang="zh-CN" sz="2250" b="1">
                <a:solidFill>
                  <a:srgbClr val="475569"/>
                </a:solidFill>
                <a:latin typeface="Arial"/>
                <a:ea typeface="Arial"/>
              </a:rPr>
              <a:t>周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609600" y="3952875"/>
            <a:ext cx="23812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650">
                <a:solidFill>
                  <a:srgbClr val="475569"/>
                </a:solidFill>
                <a:latin typeface="Microsoft YaHei"/>
                <a:ea typeface="Microsoft YaHei"/>
              </a:rPr>
              <a:t>2026-09-28 — 2026-12-30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4514850"/>
            <a:ext cx="16287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共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94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天</a:t>
            </a:r>
            <a:r>
              <a:rPr lang="en-US" sz="13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7 </a:t>
            </a:r>
            <a:r>
              <a:rPr lang="zh-CN" sz="1350">
                <a:solidFill>
                  <a:srgbClr val="94A3B8"/>
                </a:solidFill>
                <a:latin typeface="Microsoft YaHei"/>
                <a:ea typeface="Microsoft YaHei"/>
              </a:rPr>
              <a:t>个里程碑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3257550" y="1866900"/>
            <a:ext cx="8324850" cy="466725"/>
          </a:xfrm>
          <a:prstGeom prst="roundRect">
            <a:avLst>
              <a:gd name="adj" fmla="val 2040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3409950" y="196215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97316"/>
                </a:solidFill>
                <a:latin typeface="Arial"/>
                <a:ea typeface="Arial"/>
              </a:rPr>
              <a:t>M1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3981450" y="1990725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Arial"/>
                <a:ea typeface="Arial"/>
              </a:rPr>
              <a:t>10.11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876800" y="20002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需求冻结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3257550" y="2447925"/>
            <a:ext cx="8324850" cy="466725"/>
          </a:xfrm>
          <a:prstGeom prst="roundRect">
            <a:avLst>
              <a:gd name="adj" fmla="val 2040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3409950" y="254317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97316"/>
                </a:solidFill>
                <a:latin typeface="Arial"/>
                <a:ea typeface="Arial"/>
              </a:rPr>
              <a:t>M2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981450" y="2571750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Arial"/>
                <a:ea typeface="Arial"/>
              </a:rPr>
              <a:t>10.25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876800" y="25812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后端核心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3257550" y="3028950"/>
            <a:ext cx="8324850" cy="466725"/>
          </a:xfrm>
          <a:prstGeom prst="roundRect">
            <a:avLst>
              <a:gd name="adj" fmla="val 2040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3409950" y="312420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97316"/>
                </a:solidFill>
                <a:latin typeface="Arial"/>
                <a:ea typeface="Arial"/>
              </a:rPr>
              <a:t>M3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3981450" y="3152775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Arial"/>
                <a:ea typeface="Arial"/>
              </a:rPr>
              <a:t>11.08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4876800" y="31623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前端图表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3257550" y="3609975"/>
            <a:ext cx="8324850" cy="466725"/>
          </a:xfrm>
          <a:prstGeom prst="roundRect">
            <a:avLst>
              <a:gd name="adj" fmla="val 2040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3409950" y="370522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97316"/>
                </a:solidFill>
                <a:latin typeface="Arial"/>
                <a:ea typeface="Arial"/>
              </a:rPr>
              <a:t>M4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981450" y="3733800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Arial"/>
                <a:ea typeface="Arial"/>
              </a:rPr>
              <a:t>11.29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4876800" y="3743325"/>
            <a:ext cx="571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475569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分析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3257550" y="4191000"/>
            <a:ext cx="8324850" cy="466725"/>
          </a:xfrm>
          <a:prstGeom prst="roundRect">
            <a:avLst>
              <a:gd name="adj" fmla="val 2040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3409950" y="428625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97316"/>
                </a:solidFill>
                <a:latin typeface="Arial"/>
                <a:ea typeface="Arial"/>
              </a:rPr>
              <a:t>M5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981450" y="4314825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Arial"/>
                <a:ea typeface="Arial"/>
              </a:rPr>
              <a:t>12.02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876800" y="43243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最初成品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3257550" y="4772025"/>
            <a:ext cx="8324850" cy="466725"/>
          </a:xfrm>
          <a:prstGeom prst="roundRect">
            <a:avLst>
              <a:gd name="adj" fmla="val 2040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3409950" y="4867275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97316"/>
                </a:solidFill>
                <a:latin typeface="Arial"/>
                <a:ea typeface="Arial"/>
              </a:rPr>
              <a:t>M6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3981450" y="4895850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Arial"/>
                <a:ea typeface="Arial"/>
              </a:rPr>
              <a:t>12.20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876800" y="49053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测试验收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3257550" y="5353050"/>
            <a:ext cx="8324850" cy="466725"/>
          </a:xfrm>
          <a:prstGeom prst="roundRect">
            <a:avLst>
              <a:gd name="adj" fmla="val 2040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3409950" y="5448300"/>
            <a:ext cx="4191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97316"/>
                </a:solidFill>
                <a:latin typeface="Arial"/>
                <a:ea typeface="Arial"/>
              </a:rPr>
              <a:t>M7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3981450" y="5476875"/>
            <a:ext cx="742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Arial"/>
                <a:ea typeface="Arial"/>
              </a:rPr>
              <a:t>12.30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4876800" y="54864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Microsoft YaHei"/>
                <a:ea typeface="Microsoft YaHei"/>
              </a:rPr>
              <a:t>结项答辩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13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05 · GANTT &amp; NETWORK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337185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五</a:t>
            </a:r>
            <a:r>
              <a:rPr lang="en-US" sz="2400" b="1">
                <a:solidFill>
                  <a:srgbClr val="0F172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甘特图与工程网络图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609600" y="14859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需求冻结与技术准备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09600" y="20002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数据层与后端核心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25146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前端页面与图表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302895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分析模块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35337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移动端</a:t>
            </a:r>
            <a:r>
              <a:rPr lang="en-US" sz="1125">
                <a:solidFill>
                  <a:srgbClr val="0F172A"/>
                </a:solidFill>
                <a:latin typeface="Microsoft YaHei"/>
                <a:ea typeface="Microsoft YaHei"/>
              </a:rPr>
              <a:t xml:space="preserve"> Android </a:t>
            </a: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封装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集成测试与验收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45624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0F172A"/>
                </a:solidFill>
                <a:latin typeface="Microsoft YaHei"/>
                <a:ea typeface="Microsoft YaHei"/>
              </a:rPr>
              <a:t>结项与答辩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609600" y="4991100"/>
            <a:ext cx="5410200" cy="1076325"/>
          </a:xfrm>
          <a:prstGeom prst="roundRect">
            <a:avLst>
              <a:gd name="adj" fmla="val 8850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781050" y="51244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766E"/>
                </a:solidFill>
                <a:latin typeface="Microsoft YaHei"/>
                <a:ea typeface="Microsoft YaHei"/>
              </a:rPr>
              <a:t>关键路径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781050" y="5381625"/>
            <a:ext cx="5067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需求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后端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前端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AI →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真机验证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验收，共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周；移动端封装为非关键活动（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TF=1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周）。</a:t>
            </a:r>
            <a:endParaRPr/>
          </a:p>
        </p:txBody>
      </p:sp>
      <p:sp>
        <p:nvSpPr>
          <p:cNvPr id="166" name=""/>
          <p:cNvSpPr/>
          <p:nvPr/>
        </p:nvSpPr>
        <p:spPr>
          <a:xfrm rot="0" flipH="0" flipV="0">
            <a:off x="6172200" y="4991100"/>
            <a:ext cx="5410200" cy="1076325"/>
          </a:xfrm>
          <a:prstGeom prst="roundRect">
            <a:avLst>
              <a:gd name="adj" fmla="val 8850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343650" y="5124450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766E"/>
                </a:solidFill>
                <a:latin typeface="Microsoft YaHei"/>
                <a:ea typeface="Microsoft YaHei"/>
              </a:rPr>
              <a:t>进度保障措施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343650" y="5381625"/>
            <a:ext cx="50673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范围冻结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接口先行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测试左移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缓冲专用（第</a:t>
            </a:r>
            <a:r>
              <a:rPr lang="en-US" sz="1125">
                <a:solidFill>
                  <a:srgbClr val="475569"/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475569"/>
                </a:solidFill>
                <a:latin typeface="Microsoft YaHei"/>
                <a:ea typeface="Microsoft YaHei"/>
              </a:rPr>
              <a:t>周用于打包与回归，不追加功能）。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61817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横轴为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14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周（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>W1–W14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），色条长度与起止周对应；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分析与移动端封装在后期并行推进。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14 / 16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2457450" y="1485900"/>
            <a:ext cx="9124950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3" name=""/>
          <p:cNvSpPr/>
          <p:nvPr/>
        </p:nvSpPr>
        <p:spPr>
          <a:xfrm rot="0" flipH="0" flipV="0">
            <a:off x="2457450" y="1485900"/>
            <a:ext cx="1304925" cy="171450"/>
          </a:xfrm>
          <a:prstGeom prst="roundRect">
            <a:avLst>
              <a:gd name="adj" fmla="val 22222"/>
            </a:avLst>
          </a:pr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2457450" y="2000250"/>
            <a:ext cx="9124950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3105150" y="2000250"/>
            <a:ext cx="1962150" cy="171450"/>
          </a:xfrm>
          <a:prstGeom prst="roundRect">
            <a:avLst>
              <a:gd name="adj" fmla="val 22222"/>
            </a:avLst>
          </a:pr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2457450" y="2514600"/>
            <a:ext cx="9124950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4410075" y="2514600"/>
            <a:ext cx="1962150" cy="171450"/>
          </a:xfrm>
          <a:prstGeom prst="roundRect">
            <a:avLst>
              <a:gd name="adj" fmla="val 22222"/>
            </a:avLst>
          </a:pr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2457450" y="3028950"/>
            <a:ext cx="9124950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372225" y="3028950"/>
            <a:ext cx="1952625" cy="171450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2457450" y="3533775"/>
            <a:ext cx="9124950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7019925" y="3533775"/>
            <a:ext cx="1952625" cy="171450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2457450" y="4048125"/>
            <a:ext cx="9124950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/>
          <p:cNvSpPr/>
          <p:nvPr/>
        </p:nvSpPr>
        <p:spPr>
          <a:xfrm rot="0" flipH="0" flipV="0">
            <a:off x="8324850" y="4048125"/>
            <a:ext cx="1952625" cy="171450"/>
          </a:xfrm>
          <a:prstGeom prst="roundRect">
            <a:avLst>
              <a:gd name="adj" fmla="val 22222"/>
            </a:avLst>
          </a:pr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2457450" y="4562475"/>
            <a:ext cx="9124950" cy="17145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10277475" y="4562475"/>
            <a:ext cx="1304925" cy="171450"/>
          </a:xfrm>
          <a:prstGeom prst="roundRect">
            <a:avLst>
              <a:gd name="adj" fmla="val 22222"/>
            </a:avLst>
          </a:prstGeom>
          <a:solidFill>
            <a:srgbClr val="0F766E"/>
          </a:solidFill>
          <a:ln/>
        </p:spPr>
        <p:txBody>
          <a:bodyPr/>
          <a:p>
            <a:pPr/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REFERENCES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1219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参考资料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609600" y="1885950"/>
            <a:ext cx="10972800" cy="371475"/>
          </a:xfrm>
          <a:prstGeom prst="roundRect">
            <a:avLst>
              <a:gd name="adj" fmla="val 2051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762000" y="197167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Arial"/>
                <a:ea typeface="Arial"/>
              </a:rPr>
              <a:t>[1]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295400" y="19716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 xml:space="preserve">Spring Boot 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官方文档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857750" y="1990725"/>
            <a:ext cx="1533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docs.spring.io/spring-boot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609600" y="2352675"/>
            <a:ext cx="10972800" cy="371475"/>
          </a:xfrm>
          <a:prstGeom prst="roundRect">
            <a:avLst>
              <a:gd name="adj" fmla="val 2051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762000" y="2438400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Arial"/>
                <a:ea typeface="Arial"/>
              </a:rPr>
              <a:t>[2]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295400" y="243840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 xml:space="preserve">Vue 3 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中文文档</a:t>
            </a: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275">
                <a:solidFill>
                  <a:srgbClr val="0F172A"/>
                </a:solidFill>
                <a:latin typeface="Microsoft YaHei"/>
                <a:ea typeface="Microsoft YaHei"/>
              </a:rPr>
              <a:t>简介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857750" y="2457450"/>
            <a:ext cx="1809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cn.vuejs.org/guide/introduction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2819400"/>
            <a:ext cx="10972800" cy="371475"/>
          </a:xfrm>
          <a:prstGeom prst="roundRect">
            <a:avLst>
              <a:gd name="adj" fmla="val 2051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62000" y="290512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Arial"/>
                <a:ea typeface="Arial"/>
              </a:rPr>
              <a:t>[3]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1295400" y="290512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MySQL 8.4 Reference Manual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4857750" y="292417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dev.mysql.com/doc/refman/8.4/en/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609600" y="3286125"/>
            <a:ext cx="10972800" cy="371475"/>
          </a:xfrm>
          <a:prstGeom prst="roundRect">
            <a:avLst>
              <a:gd name="adj" fmla="val 2051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62000" y="3371850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Arial"/>
                <a:ea typeface="Arial"/>
              </a:rPr>
              <a:t>[4]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1295400" y="337185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Apache ECharts Handbook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857750" y="33909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echarts.apache.org/handbook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3752850"/>
            <a:ext cx="10972800" cy="371475"/>
          </a:xfrm>
          <a:prstGeom prst="roundRect">
            <a:avLst>
              <a:gd name="adj" fmla="val 2051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62000" y="383857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Arial"/>
                <a:ea typeface="Arial"/>
              </a:rPr>
              <a:t>[5]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295400" y="383857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Capacitor Documentation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857750" y="3857625"/>
            <a:ext cx="1247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capacitorjs.com/docs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09600" y="4219575"/>
            <a:ext cx="10972800" cy="371475"/>
          </a:xfrm>
          <a:prstGeom prst="roundRect">
            <a:avLst>
              <a:gd name="adj" fmla="val 2051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762000" y="4305300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Arial"/>
                <a:ea typeface="Arial"/>
              </a:rPr>
              <a:t>[6]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295400" y="4305300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Qwen3-4B-Instruct-2507 Model Card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857750" y="4324350"/>
            <a:ext cx="1438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huggingface.co/Qwen/...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609600" y="4686300"/>
            <a:ext cx="10972800" cy="371475"/>
          </a:xfrm>
          <a:prstGeom prst="roundRect">
            <a:avLst>
              <a:gd name="adj" fmla="val 2051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62000" y="4772025"/>
            <a:ext cx="40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97316"/>
                </a:solidFill>
                <a:latin typeface="Arial"/>
                <a:ea typeface="Arial"/>
              </a:rPr>
              <a:t>[7]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295400" y="4772025"/>
            <a:ext cx="3429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0F172A"/>
                </a:solidFill>
                <a:latin typeface="Microsoft YaHei"/>
                <a:ea typeface="Microsoft YaHei"/>
              </a:rPr>
              <a:t>Ollama Chat API Documentation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857750" y="4791075"/>
            <a:ext cx="150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docs.ollama.com/api/chat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09600" y="5667375"/>
            <a:ext cx="541020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62000" y="5762625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0AF"/>
                </a:solidFill>
                <a:latin typeface="Microsoft YaHei"/>
                <a:ea typeface="Microsoft YaHei"/>
              </a:rPr>
              <a:t xml:space="preserve">[1]—[4] </a:t>
            </a:r>
            <a:r>
              <a:rPr lang="zh-CN" sz="1125">
                <a:solidFill>
                  <a:srgbClr val="1E40AF"/>
                </a:solidFill>
                <a:latin typeface="Microsoft YaHei"/>
                <a:ea typeface="Microsoft YaHei"/>
              </a:rPr>
              <a:t>后端、前端、数据库与图表设计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172200" y="5667375"/>
            <a:ext cx="5410200" cy="361950"/>
          </a:xfrm>
          <a:prstGeom prst="roundRect">
            <a:avLst>
              <a:gd name="adj" fmla="val 21053"/>
            </a:avLst>
          </a:prstGeom>
          <a:solidFill>
            <a:srgbClr val="EFF6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324600" y="5762625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E40AF"/>
                </a:solidFill>
                <a:latin typeface="Microsoft YaHei"/>
                <a:ea typeface="Microsoft YaHei"/>
              </a:rPr>
              <a:t xml:space="preserve">[5] </a:t>
            </a:r>
            <a:r>
              <a:rPr lang="zh-CN" sz="1125">
                <a:solidFill>
                  <a:srgbClr val="1E40AF"/>
                </a:solidFill>
                <a:latin typeface="Microsoft YaHei"/>
                <a:ea typeface="Microsoft YaHei"/>
              </a:rPr>
              <a:t>移动应用封装</a:t>
            </a:r>
            <a:r>
              <a:rPr lang="en-US" sz="1125">
                <a:solidFill>
                  <a:srgbClr val="1E40AF"/>
                </a:solidFill>
                <a:latin typeface="Microsoft YaHei"/>
                <a:ea typeface="Microsoft YaHei"/>
              </a:rPr>
              <a:t xml:space="preserve"> · [6][7] </a:t>
            </a:r>
            <a:r>
              <a:rPr lang="zh-CN" sz="1125">
                <a:solidFill>
                  <a:srgbClr val="1E40AF"/>
                </a:solidFill>
                <a:latin typeface="Microsoft YaHei"/>
                <a:ea typeface="Microsoft YaHei"/>
              </a:rPr>
              <a:t>模型选型与接口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10972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资料访问日期</a:t>
            </a:r>
            <a:r>
              <a:rPr lang="en-US" sz="975">
                <a:solidFill>
                  <a:srgbClr val="94A3B8"/>
                </a:solidFill>
                <a:latin typeface="Microsoft YaHei"/>
                <a:ea typeface="Microsoft YaHei"/>
              </a:rPr>
              <a:t xml:space="preserve"> 2026-09-24</a:t>
            </a:r>
            <a:r>
              <a:rPr lang="zh-CN" sz="975">
                <a:solidFill>
                  <a:srgbClr val="94A3B8"/>
                </a:solidFill>
                <a:latin typeface="Microsoft YaHei"/>
                <a:ea typeface="Microsoft YaHei"/>
              </a:rPr>
              <a:t>，各项技术与模型依赖版本在建项时统一锁定。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15 / 16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" y="4381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0EA5E9"/>
                </a:solidFill>
                <a:latin typeface="Arial"/>
                <a:ea typeface="Arial"/>
              </a:rPr>
              <a:t>TEAM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9600" y="666750"/>
            <a:ext cx="27432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0F172A"/>
                </a:solidFill>
                <a:latin typeface="Microsoft YaHei"/>
                <a:ea typeface="Microsoft YaHei"/>
              </a:rPr>
              <a:t>小组成员分工及评价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09600" y="1152525"/>
            <a:ext cx="495300" cy="381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609600" y="1400175"/>
            <a:ext cx="5391150" cy="3181350"/>
          </a:xfrm>
          <a:prstGeom prst="roundRect">
            <a:avLst>
              <a:gd name="adj" fmla="val 359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09600" y="1400175"/>
            <a:ext cx="5391150" cy="3181350"/>
          </a:xfrm>
          <a:custGeom>
            <a:pathLst>
              <a:path w="566" h="334">
                <a:moveTo>
                  <a:pt x="555" y="0"/>
                </a:moveTo>
                <a:cubicBezTo>
                  <a:pt x="560" y="0"/>
                  <a:pt x="565" y="4"/>
                  <a:pt x="566" y="10"/>
                </a:cubicBezTo>
                <a:cubicBezTo>
                  <a:pt x="565" y="6"/>
                  <a:pt x="562" y="4"/>
                  <a:pt x="55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54" y="0"/>
                </a:lnTo>
                <a:close/>
              </a:path>
            </a:pathLst>
          </a:custGeom>
          <a:solidFill>
            <a:srgbClr val="14B8A6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00100" y="1571625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方文锦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800100" y="1924050"/>
            <a:ext cx="50101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需求与项目统筹、后端与数据库，负责需求、建表、接口、业务规则及权限。制作甘特图与工程网络图，进行主要可行性分析，占主要地位。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191250" y="1400175"/>
            <a:ext cx="5391150" cy="3181350"/>
          </a:xfrm>
          <a:prstGeom prst="roundRect">
            <a:avLst>
              <a:gd name="adj" fmla="val 3593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191250" y="1400175"/>
            <a:ext cx="5391150" cy="3181350"/>
          </a:xfrm>
          <a:custGeom>
            <a:pathLst>
              <a:path w="566" h="334">
                <a:moveTo>
                  <a:pt x="555" y="0"/>
                </a:moveTo>
                <a:cubicBezTo>
                  <a:pt x="560" y="0"/>
                  <a:pt x="565" y="4"/>
                  <a:pt x="566" y="10"/>
                </a:cubicBezTo>
                <a:cubicBezTo>
                  <a:pt x="565" y="6"/>
                  <a:pt x="562" y="4"/>
                  <a:pt x="558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554" y="0"/>
                </a:lnTo>
                <a:close/>
              </a:path>
            </a:pathLst>
          </a:custGeom>
          <a:solidFill>
            <a:srgbClr val="0EA5E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381750" y="1571625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Microsoft YaHei"/>
                <a:ea typeface="Microsoft YaHei"/>
              </a:rPr>
              <a:t>陈智杰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381750" y="1924050"/>
            <a:ext cx="50101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前端与交互、测试与文档，负责页面、图表、用例、缺陷复测与部署。校验可行性分析结果，查询资料并提出可能的技术问题。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4676775"/>
            <a:ext cx="10972800" cy="895350"/>
          </a:xfrm>
          <a:prstGeom prst="roundRect">
            <a:avLst>
              <a:gd name="adj" fmla="val 10638"/>
            </a:avLst>
          </a:prstGeom>
          <a:solidFill>
            <a:srgbClr val="F1F5F9"/>
          </a:solidFill>
          <a:ln/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81050" y="4810125"/>
            <a:ext cx="106299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475569"/>
                </a:solidFill>
                <a:latin typeface="Microsoft YaHei"/>
                <a:ea typeface="Microsoft YaHei"/>
              </a:rPr>
              <a:t>两人各承担两个岗位，覆盖需求、开发、测试与文档全链路，职责无空白。可行性分析部分由方文锦主导分析与绘图，占主要地位；陈智杰负责校验分析结果、查询资料并提出技术问题，形成交叉复核。甘特图与工程网络图由方文锦制作，陈智杰核对关键路径与工期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4467225" y="5705475"/>
            <a:ext cx="1533525" cy="609600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0F766E"/>
              </a:gs>
              <a:gs pos="100000">
                <a:srgbClr val="14B8A6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4733925" y="5800725"/>
            <a:ext cx="5143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方文锦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343525" y="5800725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FFFF"/>
                </a:solidFill>
                <a:latin typeface="Arial"/>
                <a:ea typeface="Arial"/>
              </a:rPr>
              <a:t>90</a:t>
            </a:r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191250" y="5705475"/>
            <a:ext cx="1533525" cy="609600"/>
          </a:xfrm>
          <a:prstGeom prst="roundRect">
            <a:avLst>
              <a:gd name="adj" fmla="val 15625"/>
            </a:avLst>
          </a:prstGeom>
          <a:gradFill>
            <a:gsLst>
              <a:gs pos="0">
                <a:srgbClr val="0EA5E9"/>
              </a:gs>
              <a:gs pos="100000">
                <a:srgbClr val="38BDF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6457950" y="5800725"/>
            <a:ext cx="5143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/>
                </a:solidFill>
                <a:latin typeface="Microsoft YaHei"/>
                <a:ea typeface="Microsoft YaHei"/>
              </a:rPr>
              <a:t>陈智杰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7067550" y="5800725"/>
            <a:ext cx="390525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700" b="1">
                <a:solidFill>
                  <a:srgbClr val="FFFFFF"/>
                </a:solidFill>
                <a:latin typeface="Arial"/>
                <a:ea typeface="Arial"/>
              </a:rPr>
              <a:t>85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6486525"/>
            <a:ext cx="1838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4A3B8"/>
                </a:solidFill>
                <a:latin typeface="Microsoft YaHei"/>
                <a:ea typeface="Microsoft YaHei"/>
              </a:rPr>
              <a:t>健身训练与饮食管理系统</a:t>
            </a:r>
            <a:r>
              <a:rPr lang="en-US" sz="1050">
                <a:solidFill>
                  <a:srgbClr val="94A3B8"/>
                </a:solidFill>
                <a:latin typeface="Microsoft YaHei"/>
                <a:ea typeface="Microsoft YaHei"/>
              </a:rPr>
              <a:t xml:space="preserve"> · G13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1172825" y="64865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Arial"/>
                <a:ea typeface="Arial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2026-10-18T21:17:00Z</dcterms:created>
  <dcterms:modified xsi:type="dcterms:W3CDTF">2026-10-18T21:17:00Z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{"AIGC":{"Label":"1","ContentProducer":"00119111010856365494821B355","ProduceID":"01a14ef590187c6ea13451e316a5daa9","ReservedCode1":"","ContentPropagator":"00119111010856365494821B355","PropagateID":"01a14ef590187c6ea13451e316a5daa9","ReservedCode2":""}}</vt:lpwstr>
  </property>
</Properties>
</file>